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24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E0E4CD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C2C4B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E0E4CD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C2C4B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E0E4CD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81304" y="2193798"/>
            <a:ext cx="6196330" cy="4858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E0E4CD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88377" y="2193798"/>
            <a:ext cx="5430519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E0E4CD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E0E4CD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13887" y="488136"/>
            <a:ext cx="8802624" cy="1165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E0E4CD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304" y="2625199"/>
            <a:ext cx="12960985" cy="406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C2C4B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6091" y="3416045"/>
            <a:ext cx="12346305" cy="127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53685" marR="5080" indent="-5341620">
              <a:lnSpc>
                <a:spcPct val="106000"/>
              </a:lnSpc>
              <a:spcBef>
                <a:spcPts val="100"/>
              </a:spcBef>
            </a:pPr>
            <a:r>
              <a:rPr sz="3850" dirty="0"/>
              <a:t>InsurAI</a:t>
            </a:r>
            <a:r>
              <a:rPr sz="3850" spc="-140" dirty="0"/>
              <a:t> </a:t>
            </a:r>
            <a:r>
              <a:rPr sz="3850" dirty="0"/>
              <a:t>Corporate</a:t>
            </a:r>
            <a:r>
              <a:rPr sz="3850" spc="-114" dirty="0"/>
              <a:t> </a:t>
            </a:r>
            <a:r>
              <a:rPr sz="3850" dirty="0"/>
              <a:t>Policy</a:t>
            </a:r>
            <a:r>
              <a:rPr sz="3850" spc="-100" dirty="0"/>
              <a:t> </a:t>
            </a:r>
            <a:r>
              <a:rPr sz="3850" dirty="0"/>
              <a:t>Automation</a:t>
            </a:r>
            <a:r>
              <a:rPr sz="3850" spc="-114" dirty="0"/>
              <a:t> </a:t>
            </a:r>
            <a:r>
              <a:rPr sz="3850" dirty="0"/>
              <a:t>a</a:t>
            </a:r>
            <a:r>
              <a:rPr lang="en-IN" sz="3850" dirty="0" err="1"/>
              <a:t>nd</a:t>
            </a:r>
            <a:r>
              <a:rPr lang="en-IN" sz="3850" spc="-140" dirty="0"/>
              <a:t> </a:t>
            </a:r>
            <a:r>
              <a:rPr sz="3850" spc="-10" dirty="0"/>
              <a:t>Intelligence System</a:t>
            </a:r>
            <a:endParaRPr sz="3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710" rIns="0" bIns="0" rtlCol="0">
            <a:spAutoFit/>
          </a:bodyPr>
          <a:lstStyle/>
          <a:p>
            <a:pPr marL="328295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799" y="2209800"/>
            <a:ext cx="11734801" cy="326615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97790">
              <a:lnSpc>
                <a:spcPct val="137700"/>
              </a:lnSpc>
              <a:spcBef>
                <a:spcPts val="85"/>
              </a:spcBef>
            </a:pP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revolutionizes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corporate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insurance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operations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through</a:t>
            </a:r>
            <a:r>
              <a:rPr sz="17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automation</a:t>
            </a:r>
            <a:r>
              <a:rPr sz="17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intelligence.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It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simplifies</a:t>
            </a:r>
            <a:r>
              <a:rPr sz="17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policy </a:t>
            </a:r>
            <a:r>
              <a:rPr sz="1750" spc="114" dirty="0">
                <a:solidFill>
                  <a:srgbClr val="C2C4B5"/>
                </a:solidFill>
                <a:latin typeface="Cambria"/>
                <a:cs typeface="Cambria"/>
              </a:rPr>
              <a:t>management,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streamlines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communication,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automates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processes</a:t>
            </a:r>
            <a:r>
              <a:rPr sz="17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like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appointment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scheduling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customer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support</a:t>
            </a:r>
            <a:r>
              <a:rPr sz="17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via </a:t>
            </a:r>
            <a:r>
              <a:rPr sz="1750" spc="135" dirty="0">
                <a:solidFill>
                  <a:srgbClr val="C2C4B5"/>
                </a:solidFill>
                <a:latin typeface="Cambria"/>
                <a:cs typeface="Cambria"/>
              </a:rPr>
              <a:t>AI-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based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voice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recognition.</a:t>
            </a:r>
            <a:r>
              <a:rPr lang="en-US" sz="1750" dirty="0"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Developed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HTML,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35" dirty="0">
                <a:solidFill>
                  <a:srgbClr val="C2C4B5"/>
                </a:solidFill>
                <a:latin typeface="Cambria"/>
                <a:cs typeface="Cambria"/>
              </a:rPr>
              <a:t>CSS,</a:t>
            </a:r>
            <a:r>
              <a:rPr sz="17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JavaScript,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React.js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responsive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frontend,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Spring</a:t>
            </a:r>
            <a:r>
              <a:rPr sz="17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Boot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MySQL</a:t>
            </a:r>
            <a:r>
              <a:rPr sz="17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scalable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backend,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ensures</a:t>
            </a:r>
            <a:r>
              <a:rPr sz="17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seamless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exchange.</a:t>
            </a:r>
            <a:r>
              <a:rPr sz="17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Core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functionalities</a:t>
            </a:r>
            <a:r>
              <a:rPr sz="17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include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user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authentication,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customer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query </a:t>
            </a:r>
            <a:r>
              <a:rPr sz="1750" spc="114" dirty="0">
                <a:solidFill>
                  <a:srgbClr val="C2C4B5"/>
                </a:solidFill>
                <a:latin typeface="Cambria"/>
                <a:cs typeface="Cambria"/>
              </a:rPr>
              <a:t>management,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appointment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scheduling,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time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notifications.</a:t>
            </a:r>
            <a:r>
              <a:rPr lang="en-US" sz="1750" dirty="0"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7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bridges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14" dirty="0">
                <a:solidFill>
                  <a:srgbClr val="C2C4B5"/>
                </a:solidFill>
                <a:latin typeface="Cambria"/>
                <a:cs typeface="Cambria"/>
              </a:rPr>
              <a:t>manual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insurance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workflows</a:t>
            </a:r>
            <a:r>
              <a:rPr sz="17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modern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digital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solutions,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enhancing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user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convenience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 and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demonstrating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full-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stack</a:t>
            </a:r>
            <a:r>
              <a:rPr sz="17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web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development's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power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addressing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world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business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challenges.</a:t>
            </a:r>
            <a:endParaRPr sz="17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839" rIns="0" bIns="0" rtlCol="0">
            <a:spAutoFit/>
          </a:bodyPr>
          <a:lstStyle/>
          <a:p>
            <a:pPr marL="1336675">
              <a:lnSpc>
                <a:spcPct val="100000"/>
              </a:lnSpc>
              <a:spcBef>
                <a:spcPts val="90"/>
              </a:spcBef>
            </a:pPr>
            <a:r>
              <a:rPr dirty="0"/>
              <a:t>Introduction</a:t>
            </a:r>
            <a:r>
              <a:rPr spc="-120" dirty="0"/>
              <a:t> </a:t>
            </a:r>
            <a:r>
              <a:rPr dirty="0"/>
              <a:t>to</a:t>
            </a:r>
            <a:r>
              <a:rPr spc="-135" dirty="0"/>
              <a:t> </a:t>
            </a:r>
            <a:r>
              <a:rPr spc="-10" dirty="0"/>
              <a:t>InsurAI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2166416"/>
            <a:ext cx="13002895" cy="44056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26415">
              <a:lnSpc>
                <a:spcPct val="137800"/>
              </a:lnSpc>
              <a:spcBef>
                <a:spcPts val="85"/>
              </a:spcBef>
            </a:pP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Corporate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Policy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Automation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Intelligence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sz="17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14" dirty="0">
                <a:solidFill>
                  <a:srgbClr val="C2C4B5"/>
                </a:solidFill>
                <a:latin typeface="Cambria"/>
                <a:cs typeface="Cambria"/>
              </a:rPr>
              <a:t>an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advanced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web-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based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application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designed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to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modernize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core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processes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within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insurance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domain.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Traditional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14" dirty="0">
                <a:solidFill>
                  <a:srgbClr val="C2C4B5"/>
                </a:solidFill>
                <a:latin typeface="Cambria"/>
                <a:cs typeface="Cambria"/>
              </a:rPr>
              <a:t>manual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operations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lead</a:t>
            </a:r>
            <a:r>
              <a:rPr sz="17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inefficiencies,</a:t>
            </a:r>
            <a:r>
              <a:rPr sz="17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delays,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and 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errors.</a:t>
            </a:r>
            <a:endParaRPr sz="1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project</a:t>
            </a:r>
            <a:r>
              <a:rPr sz="17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simplifies</a:t>
            </a:r>
            <a:r>
              <a:rPr sz="17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these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challenges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by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integrating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policy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information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14" dirty="0">
                <a:solidFill>
                  <a:srgbClr val="C2C4B5"/>
                </a:solidFill>
                <a:latin typeface="Cambria"/>
                <a:cs typeface="Cambria"/>
              </a:rPr>
              <a:t>management,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agent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availability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tracking,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appointment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scheduling,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45" dirty="0">
                <a:solidFill>
                  <a:srgbClr val="C2C4B5"/>
                </a:solidFill>
                <a:latin typeface="Cambria"/>
                <a:cs typeface="Cambria"/>
              </a:rPr>
              <a:t>AI-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driven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voice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query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assistance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into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single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digital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platform.</a:t>
            </a:r>
            <a:endParaRPr sz="1750">
              <a:latin typeface="Cambria"/>
              <a:cs typeface="Cambria"/>
            </a:endParaRPr>
          </a:p>
          <a:p>
            <a:pPr marL="12700" marR="5080">
              <a:lnSpc>
                <a:spcPct val="137800"/>
              </a:lnSpc>
              <a:spcBef>
                <a:spcPts val="1925"/>
              </a:spcBef>
            </a:pP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Developed</a:t>
            </a:r>
            <a:r>
              <a:rPr sz="17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HTML,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35" dirty="0">
                <a:solidFill>
                  <a:srgbClr val="C2C4B5"/>
                </a:solidFill>
                <a:latin typeface="Cambria"/>
                <a:cs typeface="Cambria"/>
              </a:rPr>
              <a:t>CSS,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JavaScript,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React.js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(frontend)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Spring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Boot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(backend)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MySQL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database,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offers</a:t>
            </a:r>
            <a:r>
              <a:rPr sz="17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a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responsive,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interactive,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 and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C2C4B5"/>
                </a:solidFill>
                <a:latin typeface="Cambria"/>
                <a:cs typeface="Cambria"/>
              </a:rPr>
              <a:t>user-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friendly</a:t>
            </a:r>
            <a:r>
              <a:rPr sz="17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interface.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It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follows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Model-</a:t>
            </a:r>
            <a:r>
              <a:rPr sz="1750" spc="110" dirty="0">
                <a:solidFill>
                  <a:srgbClr val="C2C4B5"/>
                </a:solidFill>
                <a:latin typeface="Cambria"/>
                <a:cs typeface="Cambria"/>
              </a:rPr>
              <a:t>View-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Controller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(MVC)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architecture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modularity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40" dirty="0">
                <a:solidFill>
                  <a:srgbClr val="C2C4B5"/>
                </a:solidFill>
                <a:latin typeface="Cambria"/>
                <a:cs typeface="Cambria"/>
              </a:rPr>
              <a:t>scalability.</a:t>
            </a:r>
            <a:endParaRPr sz="1750">
              <a:latin typeface="Cambria"/>
              <a:cs typeface="Cambria"/>
            </a:endParaRPr>
          </a:p>
          <a:p>
            <a:pPr marL="12700" marR="407034">
              <a:lnSpc>
                <a:spcPct val="137100"/>
              </a:lnSpc>
              <a:spcBef>
                <a:spcPts val="1805"/>
              </a:spcBef>
            </a:pP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20" dirty="0">
                <a:solidFill>
                  <a:srgbClr val="C2C4B5"/>
                </a:solidFill>
                <a:latin typeface="Cambria"/>
                <a:cs typeface="Cambria"/>
              </a:rPr>
              <a:t>main</a:t>
            </a:r>
            <a:r>
              <a:rPr sz="17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goal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sz="17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provide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smart,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automated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web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solution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insurance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companies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customers,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minimizing</a:t>
            </a:r>
            <a:r>
              <a:rPr sz="17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manual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workload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enhancing</a:t>
            </a:r>
            <a:r>
              <a:rPr sz="17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communication.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780" y="579196"/>
            <a:ext cx="3654425" cy="553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dirty="0"/>
              <a:t>Technology</a:t>
            </a:r>
            <a:r>
              <a:rPr sz="3450" spc="-105" dirty="0"/>
              <a:t> </a:t>
            </a:r>
            <a:r>
              <a:rPr sz="3450" spc="-10" dirty="0"/>
              <a:t>Stack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602691" y="1551177"/>
            <a:ext cx="8131809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3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3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3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built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3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robust</a:t>
            </a:r>
            <a:r>
              <a:rPr sz="13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combination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modern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frontend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 and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backend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technologies.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5695" y="2002535"/>
            <a:ext cx="6611620" cy="1844039"/>
            <a:chOff x="615695" y="2002535"/>
            <a:chExt cx="6611620" cy="1844039"/>
          </a:xfrm>
        </p:grpSpPr>
        <p:sp>
          <p:nvSpPr>
            <p:cNvPr id="5" name="object 5"/>
            <p:cNvSpPr/>
            <p:nvPr/>
          </p:nvSpPr>
          <p:spPr>
            <a:xfrm>
              <a:off x="615695" y="2267711"/>
              <a:ext cx="6611620" cy="1579245"/>
            </a:xfrm>
            <a:custGeom>
              <a:avLst/>
              <a:gdLst/>
              <a:ahLst/>
              <a:cxnLst/>
              <a:rect l="l" t="t" r="r" b="b"/>
              <a:pathLst>
                <a:path w="6611620" h="1579245">
                  <a:moveTo>
                    <a:pt x="6501511" y="0"/>
                  </a:moveTo>
                  <a:lnTo>
                    <a:pt x="109575" y="0"/>
                  </a:lnTo>
                  <a:lnTo>
                    <a:pt x="66924" y="8606"/>
                  </a:lnTo>
                  <a:lnTo>
                    <a:pt x="32094" y="32083"/>
                  </a:lnTo>
                  <a:lnTo>
                    <a:pt x="8611" y="66919"/>
                  </a:lnTo>
                  <a:lnTo>
                    <a:pt x="0" y="109600"/>
                  </a:lnTo>
                  <a:lnTo>
                    <a:pt x="0" y="1469263"/>
                  </a:lnTo>
                  <a:lnTo>
                    <a:pt x="8611" y="1511944"/>
                  </a:lnTo>
                  <a:lnTo>
                    <a:pt x="32094" y="1546780"/>
                  </a:lnTo>
                  <a:lnTo>
                    <a:pt x="66924" y="1570257"/>
                  </a:lnTo>
                  <a:lnTo>
                    <a:pt x="109575" y="1578864"/>
                  </a:lnTo>
                  <a:lnTo>
                    <a:pt x="6501511" y="1578864"/>
                  </a:lnTo>
                  <a:lnTo>
                    <a:pt x="6544192" y="1570257"/>
                  </a:lnTo>
                  <a:lnTo>
                    <a:pt x="6579028" y="1546780"/>
                  </a:lnTo>
                  <a:lnTo>
                    <a:pt x="6602505" y="1511944"/>
                  </a:lnTo>
                  <a:lnTo>
                    <a:pt x="6611111" y="1469263"/>
                  </a:lnTo>
                  <a:lnTo>
                    <a:pt x="6611111" y="109600"/>
                  </a:lnTo>
                  <a:lnTo>
                    <a:pt x="6602505" y="66919"/>
                  </a:lnTo>
                  <a:lnTo>
                    <a:pt x="6579028" y="32083"/>
                  </a:lnTo>
                  <a:lnTo>
                    <a:pt x="6544192" y="8606"/>
                  </a:lnTo>
                  <a:lnTo>
                    <a:pt x="6501511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5696" y="2002535"/>
              <a:ext cx="6611620" cy="527685"/>
            </a:xfrm>
            <a:custGeom>
              <a:avLst/>
              <a:gdLst/>
              <a:ahLst/>
              <a:cxnLst/>
              <a:rect l="l" t="t" r="r" b="b"/>
              <a:pathLst>
                <a:path w="6611620" h="527685">
                  <a:moveTo>
                    <a:pt x="6611112" y="267208"/>
                  </a:moveTo>
                  <a:lnTo>
                    <a:pt x="6609029" y="256921"/>
                  </a:lnTo>
                  <a:lnTo>
                    <a:pt x="6603378" y="248526"/>
                  </a:lnTo>
                  <a:lnTo>
                    <a:pt x="6594983" y="242874"/>
                  </a:lnTo>
                  <a:lnTo>
                    <a:pt x="6584696" y="240792"/>
                  </a:lnTo>
                  <a:lnTo>
                    <a:pt x="3567150" y="240792"/>
                  </a:lnTo>
                  <a:lnTo>
                    <a:pt x="3564953" y="216255"/>
                  </a:lnTo>
                  <a:lnTo>
                    <a:pt x="3552710" y="171640"/>
                  </a:lnTo>
                  <a:lnTo>
                    <a:pt x="3533216" y="130556"/>
                  </a:lnTo>
                  <a:lnTo>
                    <a:pt x="3507219" y="93764"/>
                  </a:lnTo>
                  <a:lnTo>
                    <a:pt x="3475444" y="61988"/>
                  </a:lnTo>
                  <a:lnTo>
                    <a:pt x="3438652" y="35991"/>
                  </a:lnTo>
                  <a:lnTo>
                    <a:pt x="3397567" y="16497"/>
                  </a:lnTo>
                  <a:lnTo>
                    <a:pt x="3352952" y="4254"/>
                  </a:lnTo>
                  <a:lnTo>
                    <a:pt x="3305556" y="0"/>
                  </a:lnTo>
                  <a:lnTo>
                    <a:pt x="3258147" y="4254"/>
                  </a:lnTo>
                  <a:lnTo>
                    <a:pt x="3213531" y="16497"/>
                  </a:lnTo>
                  <a:lnTo>
                    <a:pt x="3172460" y="35991"/>
                  </a:lnTo>
                  <a:lnTo>
                    <a:pt x="3135655" y="61988"/>
                  </a:lnTo>
                  <a:lnTo>
                    <a:pt x="3103880" y="93764"/>
                  </a:lnTo>
                  <a:lnTo>
                    <a:pt x="3077883" y="130556"/>
                  </a:lnTo>
                  <a:lnTo>
                    <a:pt x="3058388" y="171640"/>
                  </a:lnTo>
                  <a:lnTo>
                    <a:pt x="3046145" y="216255"/>
                  </a:lnTo>
                  <a:lnTo>
                    <a:pt x="3043948" y="240792"/>
                  </a:lnTo>
                  <a:lnTo>
                    <a:pt x="26377" y="240792"/>
                  </a:lnTo>
                  <a:lnTo>
                    <a:pt x="16103" y="242874"/>
                  </a:lnTo>
                  <a:lnTo>
                    <a:pt x="7721" y="248526"/>
                  </a:lnTo>
                  <a:lnTo>
                    <a:pt x="2070" y="256921"/>
                  </a:lnTo>
                  <a:lnTo>
                    <a:pt x="0" y="267208"/>
                  </a:lnTo>
                  <a:lnTo>
                    <a:pt x="0" y="305816"/>
                  </a:lnTo>
                  <a:lnTo>
                    <a:pt x="2070" y="316115"/>
                  </a:lnTo>
                  <a:lnTo>
                    <a:pt x="7721" y="324510"/>
                  </a:lnTo>
                  <a:lnTo>
                    <a:pt x="16103" y="330161"/>
                  </a:lnTo>
                  <a:lnTo>
                    <a:pt x="26377" y="332232"/>
                  </a:lnTo>
                  <a:lnTo>
                    <a:pt x="3051949" y="332232"/>
                  </a:lnTo>
                  <a:lnTo>
                    <a:pt x="3058388" y="355676"/>
                  </a:lnTo>
                  <a:lnTo>
                    <a:pt x="3077883" y="396748"/>
                  </a:lnTo>
                  <a:lnTo>
                    <a:pt x="3103880" y="433552"/>
                  </a:lnTo>
                  <a:lnTo>
                    <a:pt x="3135655" y="465328"/>
                  </a:lnTo>
                  <a:lnTo>
                    <a:pt x="3172460" y="491324"/>
                  </a:lnTo>
                  <a:lnTo>
                    <a:pt x="3213531" y="510819"/>
                  </a:lnTo>
                  <a:lnTo>
                    <a:pt x="3258147" y="523062"/>
                  </a:lnTo>
                  <a:lnTo>
                    <a:pt x="3305556" y="527304"/>
                  </a:lnTo>
                  <a:lnTo>
                    <a:pt x="3352952" y="523062"/>
                  </a:lnTo>
                  <a:lnTo>
                    <a:pt x="3397567" y="510819"/>
                  </a:lnTo>
                  <a:lnTo>
                    <a:pt x="3438652" y="491324"/>
                  </a:lnTo>
                  <a:lnTo>
                    <a:pt x="3475444" y="465328"/>
                  </a:lnTo>
                  <a:lnTo>
                    <a:pt x="3507219" y="433552"/>
                  </a:lnTo>
                  <a:lnTo>
                    <a:pt x="3533216" y="396748"/>
                  </a:lnTo>
                  <a:lnTo>
                    <a:pt x="3552710" y="355676"/>
                  </a:lnTo>
                  <a:lnTo>
                    <a:pt x="3559137" y="332232"/>
                  </a:lnTo>
                  <a:lnTo>
                    <a:pt x="6584696" y="332232"/>
                  </a:lnTo>
                  <a:lnTo>
                    <a:pt x="6594983" y="330161"/>
                  </a:lnTo>
                  <a:lnTo>
                    <a:pt x="6603378" y="324510"/>
                  </a:lnTo>
                  <a:lnTo>
                    <a:pt x="6609029" y="316115"/>
                  </a:lnTo>
                  <a:lnTo>
                    <a:pt x="6611112" y="305816"/>
                  </a:lnTo>
                  <a:lnTo>
                    <a:pt x="6611112" y="267208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51528" y="209867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420" y="2688082"/>
            <a:ext cx="5547360" cy="65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C2C4B5"/>
                </a:solidFill>
                <a:latin typeface="Nirmala UI"/>
                <a:cs typeface="Nirmala UI"/>
              </a:rPr>
              <a:t>HTML,</a:t>
            </a:r>
            <a:r>
              <a:rPr sz="1700" b="1" spc="-15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1700" b="1" dirty="0">
                <a:solidFill>
                  <a:srgbClr val="C2C4B5"/>
                </a:solidFill>
                <a:latin typeface="Nirmala UI"/>
                <a:cs typeface="Nirmala UI"/>
              </a:rPr>
              <a:t>CSS,</a:t>
            </a:r>
            <a:r>
              <a:rPr sz="1700" b="1" spc="-15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1700" b="1" spc="-10" dirty="0">
                <a:solidFill>
                  <a:srgbClr val="C2C4B5"/>
                </a:solidFill>
                <a:latin typeface="Nirmala UI"/>
                <a:cs typeface="Nirmala UI"/>
              </a:rPr>
              <a:t>JavaScript</a:t>
            </a:r>
            <a:endParaRPr sz="170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Foundation</a:t>
            </a:r>
            <a:r>
              <a:rPr sz="13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web</a:t>
            </a:r>
            <a:r>
              <a:rPr sz="13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page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structure,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styling,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dynamic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interactions.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03592" y="2002535"/>
            <a:ext cx="6611620" cy="1844039"/>
            <a:chOff x="7403592" y="2002535"/>
            <a:chExt cx="6611620" cy="1844039"/>
          </a:xfrm>
        </p:grpSpPr>
        <p:sp>
          <p:nvSpPr>
            <p:cNvPr id="10" name="object 10"/>
            <p:cNvSpPr/>
            <p:nvPr/>
          </p:nvSpPr>
          <p:spPr>
            <a:xfrm>
              <a:off x="7403592" y="2267711"/>
              <a:ext cx="6611620" cy="1579245"/>
            </a:xfrm>
            <a:custGeom>
              <a:avLst/>
              <a:gdLst/>
              <a:ahLst/>
              <a:cxnLst/>
              <a:rect l="l" t="t" r="r" b="b"/>
              <a:pathLst>
                <a:path w="6611619" h="1579245">
                  <a:moveTo>
                    <a:pt x="6501511" y="0"/>
                  </a:moveTo>
                  <a:lnTo>
                    <a:pt x="109601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1469263"/>
                  </a:lnTo>
                  <a:lnTo>
                    <a:pt x="8606" y="1511944"/>
                  </a:lnTo>
                  <a:lnTo>
                    <a:pt x="32083" y="1546780"/>
                  </a:lnTo>
                  <a:lnTo>
                    <a:pt x="66919" y="1570257"/>
                  </a:lnTo>
                  <a:lnTo>
                    <a:pt x="109601" y="1578864"/>
                  </a:lnTo>
                  <a:lnTo>
                    <a:pt x="6501511" y="1578864"/>
                  </a:lnTo>
                  <a:lnTo>
                    <a:pt x="6544192" y="1570257"/>
                  </a:lnTo>
                  <a:lnTo>
                    <a:pt x="6579028" y="1546780"/>
                  </a:lnTo>
                  <a:lnTo>
                    <a:pt x="6602505" y="1511944"/>
                  </a:lnTo>
                  <a:lnTo>
                    <a:pt x="6611111" y="1469263"/>
                  </a:lnTo>
                  <a:lnTo>
                    <a:pt x="6611111" y="109600"/>
                  </a:lnTo>
                  <a:lnTo>
                    <a:pt x="6602505" y="66919"/>
                  </a:lnTo>
                  <a:lnTo>
                    <a:pt x="6579028" y="32083"/>
                  </a:lnTo>
                  <a:lnTo>
                    <a:pt x="6544192" y="8606"/>
                  </a:lnTo>
                  <a:lnTo>
                    <a:pt x="6501511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03592" y="2002535"/>
              <a:ext cx="6611620" cy="527685"/>
            </a:xfrm>
            <a:custGeom>
              <a:avLst/>
              <a:gdLst/>
              <a:ahLst/>
              <a:cxnLst/>
              <a:rect l="l" t="t" r="r" b="b"/>
              <a:pathLst>
                <a:path w="6611619" h="527685">
                  <a:moveTo>
                    <a:pt x="6611112" y="267208"/>
                  </a:moveTo>
                  <a:lnTo>
                    <a:pt x="6609029" y="256921"/>
                  </a:lnTo>
                  <a:lnTo>
                    <a:pt x="6603378" y="248526"/>
                  </a:lnTo>
                  <a:lnTo>
                    <a:pt x="6594983" y="242874"/>
                  </a:lnTo>
                  <a:lnTo>
                    <a:pt x="6584696" y="240792"/>
                  </a:lnTo>
                  <a:lnTo>
                    <a:pt x="3567150" y="240792"/>
                  </a:lnTo>
                  <a:lnTo>
                    <a:pt x="3564953" y="216255"/>
                  </a:lnTo>
                  <a:lnTo>
                    <a:pt x="3552710" y="171640"/>
                  </a:lnTo>
                  <a:lnTo>
                    <a:pt x="3533216" y="130556"/>
                  </a:lnTo>
                  <a:lnTo>
                    <a:pt x="3507219" y="93764"/>
                  </a:lnTo>
                  <a:lnTo>
                    <a:pt x="3475444" y="61988"/>
                  </a:lnTo>
                  <a:lnTo>
                    <a:pt x="3438652" y="35991"/>
                  </a:lnTo>
                  <a:lnTo>
                    <a:pt x="3397567" y="16497"/>
                  </a:lnTo>
                  <a:lnTo>
                    <a:pt x="3352952" y="4254"/>
                  </a:lnTo>
                  <a:lnTo>
                    <a:pt x="3305556" y="0"/>
                  </a:lnTo>
                  <a:lnTo>
                    <a:pt x="3258147" y="4254"/>
                  </a:lnTo>
                  <a:lnTo>
                    <a:pt x="3213531" y="16497"/>
                  </a:lnTo>
                  <a:lnTo>
                    <a:pt x="3172460" y="35991"/>
                  </a:lnTo>
                  <a:lnTo>
                    <a:pt x="3135655" y="61988"/>
                  </a:lnTo>
                  <a:lnTo>
                    <a:pt x="3103880" y="93764"/>
                  </a:lnTo>
                  <a:lnTo>
                    <a:pt x="3077883" y="130556"/>
                  </a:lnTo>
                  <a:lnTo>
                    <a:pt x="3058388" y="171640"/>
                  </a:lnTo>
                  <a:lnTo>
                    <a:pt x="3046145" y="216255"/>
                  </a:lnTo>
                  <a:lnTo>
                    <a:pt x="3043948" y="240792"/>
                  </a:lnTo>
                  <a:lnTo>
                    <a:pt x="26416" y="240792"/>
                  </a:lnTo>
                  <a:lnTo>
                    <a:pt x="16116" y="242874"/>
                  </a:lnTo>
                  <a:lnTo>
                    <a:pt x="7721" y="248526"/>
                  </a:lnTo>
                  <a:lnTo>
                    <a:pt x="2070" y="256921"/>
                  </a:lnTo>
                  <a:lnTo>
                    <a:pt x="0" y="267208"/>
                  </a:lnTo>
                  <a:lnTo>
                    <a:pt x="0" y="305816"/>
                  </a:lnTo>
                  <a:lnTo>
                    <a:pt x="2070" y="316115"/>
                  </a:lnTo>
                  <a:lnTo>
                    <a:pt x="7721" y="324510"/>
                  </a:lnTo>
                  <a:lnTo>
                    <a:pt x="16116" y="330161"/>
                  </a:lnTo>
                  <a:lnTo>
                    <a:pt x="26416" y="332232"/>
                  </a:lnTo>
                  <a:lnTo>
                    <a:pt x="3051949" y="332232"/>
                  </a:lnTo>
                  <a:lnTo>
                    <a:pt x="3058388" y="355676"/>
                  </a:lnTo>
                  <a:lnTo>
                    <a:pt x="3077883" y="396748"/>
                  </a:lnTo>
                  <a:lnTo>
                    <a:pt x="3103880" y="433552"/>
                  </a:lnTo>
                  <a:lnTo>
                    <a:pt x="3135655" y="465328"/>
                  </a:lnTo>
                  <a:lnTo>
                    <a:pt x="3172460" y="491324"/>
                  </a:lnTo>
                  <a:lnTo>
                    <a:pt x="3213531" y="510819"/>
                  </a:lnTo>
                  <a:lnTo>
                    <a:pt x="3258147" y="523062"/>
                  </a:lnTo>
                  <a:lnTo>
                    <a:pt x="3305556" y="527304"/>
                  </a:lnTo>
                  <a:lnTo>
                    <a:pt x="3352952" y="523062"/>
                  </a:lnTo>
                  <a:lnTo>
                    <a:pt x="3397567" y="510819"/>
                  </a:lnTo>
                  <a:lnTo>
                    <a:pt x="3438652" y="491324"/>
                  </a:lnTo>
                  <a:lnTo>
                    <a:pt x="3475444" y="465328"/>
                  </a:lnTo>
                  <a:lnTo>
                    <a:pt x="3507219" y="433552"/>
                  </a:lnTo>
                  <a:lnTo>
                    <a:pt x="3533216" y="396748"/>
                  </a:lnTo>
                  <a:lnTo>
                    <a:pt x="3552710" y="355676"/>
                  </a:lnTo>
                  <a:lnTo>
                    <a:pt x="3559137" y="332232"/>
                  </a:lnTo>
                  <a:lnTo>
                    <a:pt x="6584696" y="332232"/>
                  </a:lnTo>
                  <a:lnTo>
                    <a:pt x="6594983" y="330161"/>
                  </a:lnTo>
                  <a:lnTo>
                    <a:pt x="6603378" y="324510"/>
                  </a:lnTo>
                  <a:lnTo>
                    <a:pt x="6609029" y="316115"/>
                  </a:lnTo>
                  <a:lnTo>
                    <a:pt x="6611112" y="305816"/>
                  </a:lnTo>
                  <a:lnTo>
                    <a:pt x="6611112" y="267208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639806" y="210629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90535" y="2688082"/>
            <a:ext cx="5756275" cy="934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solidFill>
                  <a:srgbClr val="C2C4B5"/>
                </a:solidFill>
                <a:latin typeface="Nirmala UI"/>
                <a:cs typeface="Nirmala UI"/>
              </a:rPr>
              <a:t>React.js</a:t>
            </a:r>
            <a:endParaRPr sz="1700">
              <a:latin typeface="Nirmala UI"/>
              <a:cs typeface="Nirmala UI"/>
            </a:endParaRPr>
          </a:p>
          <a:p>
            <a:pPr marL="12700" marR="5080">
              <a:lnSpc>
                <a:spcPct val="134800"/>
              </a:lnSpc>
              <a:spcBef>
                <a:spcPts val="740"/>
              </a:spcBef>
            </a:pP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Frontend</a:t>
            </a:r>
            <a:r>
              <a:rPr sz="1350" spc="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framework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dynamic,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80" dirty="0">
                <a:solidFill>
                  <a:srgbClr val="C2C4B5"/>
                </a:solidFill>
                <a:latin typeface="Cambria"/>
                <a:cs typeface="Cambria"/>
              </a:rPr>
              <a:t>component-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based,</a:t>
            </a:r>
            <a:r>
              <a:rPr sz="1350" spc="114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 responsive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UI 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development.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5695" y="4023359"/>
            <a:ext cx="6611620" cy="1844039"/>
            <a:chOff x="615695" y="4023359"/>
            <a:chExt cx="6611620" cy="1844039"/>
          </a:xfrm>
        </p:grpSpPr>
        <p:sp>
          <p:nvSpPr>
            <p:cNvPr id="15" name="object 15"/>
            <p:cNvSpPr/>
            <p:nvPr/>
          </p:nvSpPr>
          <p:spPr>
            <a:xfrm>
              <a:off x="615695" y="4285487"/>
              <a:ext cx="6611620" cy="1582420"/>
            </a:xfrm>
            <a:custGeom>
              <a:avLst/>
              <a:gdLst/>
              <a:ahLst/>
              <a:cxnLst/>
              <a:rect l="l" t="t" r="r" b="b"/>
              <a:pathLst>
                <a:path w="6611620" h="1582420">
                  <a:moveTo>
                    <a:pt x="6501384" y="0"/>
                  </a:moveTo>
                  <a:lnTo>
                    <a:pt x="109791" y="0"/>
                  </a:lnTo>
                  <a:lnTo>
                    <a:pt x="67053" y="8626"/>
                  </a:lnTo>
                  <a:lnTo>
                    <a:pt x="32154" y="32146"/>
                  </a:lnTo>
                  <a:lnTo>
                    <a:pt x="8627" y="67026"/>
                  </a:lnTo>
                  <a:lnTo>
                    <a:pt x="0" y="109727"/>
                  </a:lnTo>
                  <a:lnTo>
                    <a:pt x="0" y="1472183"/>
                  </a:lnTo>
                  <a:lnTo>
                    <a:pt x="8627" y="1514885"/>
                  </a:lnTo>
                  <a:lnTo>
                    <a:pt x="32154" y="1549765"/>
                  </a:lnTo>
                  <a:lnTo>
                    <a:pt x="67053" y="1573285"/>
                  </a:lnTo>
                  <a:lnTo>
                    <a:pt x="109791" y="1581911"/>
                  </a:lnTo>
                  <a:lnTo>
                    <a:pt x="6501384" y="1581911"/>
                  </a:lnTo>
                  <a:lnTo>
                    <a:pt x="6544085" y="1573285"/>
                  </a:lnTo>
                  <a:lnTo>
                    <a:pt x="6578965" y="1549765"/>
                  </a:lnTo>
                  <a:lnTo>
                    <a:pt x="6602485" y="1514885"/>
                  </a:lnTo>
                  <a:lnTo>
                    <a:pt x="6611111" y="1472183"/>
                  </a:lnTo>
                  <a:lnTo>
                    <a:pt x="6611111" y="109727"/>
                  </a:lnTo>
                  <a:lnTo>
                    <a:pt x="6602485" y="67026"/>
                  </a:lnTo>
                  <a:lnTo>
                    <a:pt x="6578965" y="32146"/>
                  </a:lnTo>
                  <a:lnTo>
                    <a:pt x="6544085" y="8626"/>
                  </a:lnTo>
                  <a:lnTo>
                    <a:pt x="6501384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5696" y="4023359"/>
              <a:ext cx="6611620" cy="527685"/>
            </a:xfrm>
            <a:custGeom>
              <a:avLst/>
              <a:gdLst/>
              <a:ahLst/>
              <a:cxnLst/>
              <a:rect l="l" t="t" r="r" b="b"/>
              <a:pathLst>
                <a:path w="6611620" h="527685">
                  <a:moveTo>
                    <a:pt x="6611112" y="267208"/>
                  </a:moveTo>
                  <a:lnTo>
                    <a:pt x="6609029" y="256921"/>
                  </a:lnTo>
                  <a:lnTo>
                    <a:pt x="6603378" y="248526"/>
                  </a:lnTo>
                  <a:lnTo>
                    <a:pt x="6594983" y="242874"/>
                  </a:lnTo>
                  <a:lnTo>
                    <a:pt x="6584696" y="240792"/>
                  </a:lnTo>
                  <a:lnTo>
                    <a:pt x="3567150" y="240792"/>
                  </a:lnTo>
                  <a:lnTo>
                    <a:pt x="3564953" y="216255"/>
                  </a:lnTo>
                  <a:lnTo>
                    <a:pt x="3552710" y="171640"/>
                  </a:lnTo>
                  <a:lnTo>
                    <a:pt x="3533216" y="130556"/>
                  </a:lnTo>
                  <a:lnTo>
                    <a:pt x="3507219" y="93764"/>
                  </a:lnTo>
                  <a:lnTo>
                    <a:pt x="3475444" y="61988"/>
                  </a:lnTo>
                  <a:lnTo>
                    <a:pt x="3438652" y="35991"/>
                  </a:lnTo>
                  <a:lnTo>
                    <a:pt x="3397567" y="16497"/>
                  </a:lnTo>
                  <a:lnTo>
                    <a:pt x="3352952" y="4254"/>
                  </a:lnTo>
                  <a:lnTo>
                    <a:pt x="3305556" y="0"/>
                  </a:lnTo>
                  <a:lnTo>
                    <a:pt x="3258147" y="4254"/>
                  </a:lnTo>
                  <a:lnTo>
                    <a:pt x="3213531" y="16497"/>
                  </a:lnTo>
                  <a:lnTo>
                    <a:pt x="3172460" y="35991"/>
                  </a:lnTo>
                  <a:lnTo>
                    <a:pt x="3135655" y="61988"/>
                  </a:lnTo>
                  <a:lnTo>
                    <a:pt x="3103880" y="93764"/>
                  </a:lnTo>
                  <a:lnTo>
                    <a:pt x="3077883" y="130556"/>
                  </a:lnTo>
                  <a:lnTo>
                    <a:pt x="3058388" y="171640"/>
                  </a:lnTo>
                  <a:lnTo>
                    <a:pt x="3046145" y="216255"/>
                  </a:lnTo>
                  <a:lnTo>
                    <a:pt x="3043948" y="240792"/>
                  </a:lnTo>
                  <a:lnTo>
                    <a:pt x="26377" y="240792"/>
                  </a:lnTo>
                  <a:lnTo>
                    <a:pt x="16103" y="242874"/>
                  </a:lnTo>
                  <a:lnTo>
                    <a:pt x="7721" y="248526"/>
                  </a:lnTo>
                  <a:lnTo>
                    <a:pt x="2070" y="256921"/>
                  </a:lnTo>
                  <a:lnTo>
                    <a:pt x="0" y="267208"/>
                  </a:lnTo>
                  <a:lnTo>
                    <a:pt x="0" y="305816"/>
                  </a:lnTo>
                  <a:lnTo>
                    <a:pt x="2070" y="316115"/>
                  </a:lnTo>
                  <a:lnTo>
                    <a:pt x="7721" y="324510"/>
                  </a:lnTo>
                  <a:lnTo>
                    <a:pt x="16103" y="330161"/>
                  </a:lnTo>
                  <a:lnTo>
                    <a:pt x="26377" y="332232"/>
                  </a:lnTo>
                  <a:lnTo>
                    <a:pt x="3051949" y="332232"/>
                  </a:lnTo>
                  <a:lnTo>
                    <a:pt x="3058388" y="355676"/>
                  </a:lnTo>
                  <a:lnTo>
                    <a:pt x="3077883" y="396748"/>
                  </a:lnTo>
                  <a:lnTo>
                    <a:pt x="3103880" y="433552"/>
                  </a:lnTo>
                  <a:lnTo>
                    <a:pt x="3135655" y="465328"/>
                  </a:lnTo>
                  <a:lnTo>
                    <a:pt x="3172460" y="491324"/>
                  </a:lnTo>
                  <a:lnTo>
                    <a:pt x="3213531" y="510819"/>
                  </a:lnTo>
                  <a:lnTo>
                    <a:pt x="3258147" y="523062"/>
                  </a:lnTo>
                  <a:lnTo>
                    <a:pt x="3305556" y="527304"/>
                  </a:lnTo>
                  <a:lnTo>
                    <a:pt x="3352952" y="523062"/>
                  </a:lnTo>
                  <a:lnTo>
                    <a:pt x="3397567" y="510819"/>
                  </a:lnTo>
                  <a:lnTo>
                    <a:pt x="3438652" y="491324"/>
                  </a:lnTo>
                  <a:lnTo>
                    <a:pt x="3475444" y="465328"/>
                  </a:lnTo>
                  <a:lnTo>
                    <a:pt x="3507219" y="433552"/>
                  </a:lnTo>
                  <a:lnTo>
                    <a:pt x="3533216" y="396748"/>
                  </a:lnTo>
                  <a:lnTo>
                    <a:pt x="3552710" y="355676"/>
                  </a:lnTo>
                  <a:lnTo>
                    <a:pt x="3559137" y="332232"/>
                  </a:lnTo>
                  <a:lnTo>
                    <a:pt x="6584696" y="332232"/>
                  </a:lnTo>
                  <a:lnTo>
                    <a:pt x="6594983" y="330161"/>
                  </a:lnTo>
                  <a:lnTo>
                    <a:pt x="6603378" y="324510"/>
                  </a:lnTo>
                  <a:lnTo>
                    <a:pt x="6609029" y="316115"/>
                  </a:lnTo>
                  <a:lnTo>
                    <a:pt x="6611112" y="305816"/>
                  </a:lnTo>
                  <a:lnTo>
                    <a:pt x="6611112" y="267208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23842" y="4134688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1420" y="4709540"/>
            <a:ext cx="5491480" cy="934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C2C4B5"/>
                </a:solidFill>
                <a:latin typeface="Nirmala UI"/>
                <a:cs typeface="Nirmala UI"/>
              </a:rPr>
              <a:t>Spring</a:t>
            </a:r>
            <a:r>
              <a:rPr sz="1700" b="1" spc="-40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1700" b="1" spc="-20" dirty="0">
                <a:solidFill>
                  <a:srgbClr val="C2C4B5"/>
                </a:solidFill>
                <a:latin typeface="Nirmala UI"/>
                <a:cs typeface="Nirmala UI"/>
              </a:rPr>
              <a:t>Boot</a:t>
            </a:r>
            <a:endParaRPr sz="1700">
              <a:latin typeface="Nirmala UI"/>
              <a:cs typeface="Nirmala UI"/>
            </a:endParaRPr>
          </a:p>
          <a:p>
            <a:pPr marL="12700" marR="5080">
              <a:lnSpc>
                <a:spcPct val="134900"/>
              </a:lnSpc>
              <a:spcBef>
                <a:spcPts val="735"/>
              </a:spcBef>
            </a:pP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Backend</a:t>
            </a:r>
            <a:r>
              <a:rPr sz="13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framework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(Java)</a:t>
            </a:r>
            <a:r>
              <a:rPr sz="13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business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logic,</a:t>
            </a:r>
            <a:r>
              <a:rPr sz="13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RESTful</a:t>
            </a:r>
            <a:r>
              <a:rPr sz="13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APIs,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3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voice 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recognition</a:t>
            </a:r>
            <a:r>
              <a:rPr sz="13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integration.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3592" y="4023359"/>
            <a:ext cx="6611620" cy="1844039"/>
            <a:chOff x="7403592" y="4023359"/>
            <a:chExt cx="6611620" cy="1844039"/>
          </a:xfrm>
        </p:grpSpPr>
        <p:sp>
          <p:nvSpPr>
            <p:cNvPr id="20" name="object 20"/>
            <p:cNvSpPr/>
            <p:nvPr/>
          </p:nvSpPr>
          <p:spPr>
            <a:xfrm>
              <a:off x="7403592" y="4285487"/>
              <a:ext cx="6611620" cy="1582420"/>
            </a:xfrm>
            <a:custGeom>
              <a:avLst/>
              <a:gdLst/>
              <a:ahLst/>
              <a:cxnLst/>
              <a:rect l="l" t="t" r="r" b="b"/>
              <a:pathLst>
                <a:path w="6611619" h="1582420">
                  <a:moveTo>
                    <a:pt x="6501384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472183"/>
                  </a:lnTo>
                  <a:lnTo>
                    <a:pt x="8626" y="1514885"/>
                  </a:lnTo>
                  <a:lnTo>
                    <a:pt x="32146" y="1549765"/>
                  </a:lnTo>
                  <a:lnTo>
                    <a:pt x="67026" y="1573285"/>
                  </a:lnTo>
                  <a:lnTo>
                    <a:pt x="109728" y="1581911"/>
                  </a:lnTo>
                  <a:lnTo>
                    <a:pt x="6501384" y="1581911"/>
                  </a:lnTo>
                  <a:lnTo>
                    <a:pt x="6544085" y="1573285"/>
                  </a:lnTo>
                  <a:lnTo>
                    <a:pt x="6578965" y="1549765"/>
                  </a:lnTo>
                  <a:lnTo>
                    <a:pt x="6602485" y="1514885"/>
                  </a:lnTo>
                  <a:lnTo>
                    <a:pt x="6611111" y="1472183"/>
                  </a:lnTo>
                  <a:lnTo>
                    <a:pt x="6611111" y="109727"/>
                  </a:lnTo>
                  <a:lnTo>
                    <a:pt x="6602485" y="67026"/>
                  </a:lnTo>
                  <a:lnTo>
                    <a:pt x="6578965" y="32146"/>
                  </a:lnTo>
                  <a:lnTo>
                    <a:pt x="6544085" y="8626"/>
                  </a:lnTo>
                  <a:lnTo>
                    <a:pt x="6501384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03592" y="4023359"/>
              <a:ext cx="6611620" cy="527685"/>
            </a:xfrm>
            <a:custGeom>
              <a:avLst/>
              <a:gdLst/>
              <a:ahLst/>
              <a:cxnLst/>
              <a:rect l="l" t="t" r="r" b="b"/>
              <a:pathLst>
                <a:path w="6611619" h="527685">
                  <a:moveTo>
                    <a:pt x="6611112" y="267208"/>
                  </a:moveTo>
                  <a:lnTo>
                    <a:pt x="6609029" y="256921"/>
                  </a:lnTo>
                  <a:lnTo>
                    <a:pt x="6603378" y="248526"/>
                  </a:lnTo>
                  <a:lnTo>
                    <a:pt x="6594983" y="242874"/>
                  </a:lnTo>
                  <a:lnTo>
                    <a:pt x="6584696" y="240792"/>
                  </a:lnTo>
                  <a:lnTo>
                    <a:pt x="3567150" y="240792"/>
                  </a:lnTo>
                  <a:lnTo>
                    <a:pt x="3564953" y="216255"/>
                  </a:lnTo>
                  <a:lnTo>
                    <a:pt x="3552710" y="171640"/>
                  </a:lnTo>
                  <a:lnTo>
                    <a:pt x="3533216" y="130556"/>
                  </a:lnTo>
                  <a:lnTo>
                    <a:pt x="3507219" y="93764"/>
                  </a:lnTo>
                  <a:lnTo>
                    <a:pt x="3475444" y="61988"/>
                  </a:lnTo>
                  <a:lnTo>
                    <a:pt x="3438652" y="35991"/>
                  </a:lnTo>
                  <a:lnTo>
                    <a:pt x="3397567" y="16497"/>
                  </a:lnTo>
                  <a:lnTo>
                    <a:pt x="3352952" y="4254"/>
                  </a:lnTo>
                  <a:lnTo>
                    <a:pt x="3305556" y="0"/>
                  </a:lnTo>
                  <a:lnTo>
                    <a:pt x="3258147" y="4254"/>
                  </a:lnTo>
                  <a:lnTo>
                    <a:pt x="3213531" y="16497"/>
                  </a:lnTo>
                  <a:lnTo>
                    <a:pt x="3172460" y="35991"/>
                  </a:lnTo>
                  <a:lnTo>
                    <a:pt x="3135655" y="61988"/>
                  </a:lnTo>
                  <a:lnTo>
                    <a:pt x="3103880" y="93764"/>
                  </a:lnTo>
                  <a:lnTo>
                    <a:pt x="3077883" y="130556"/>
                  </a:lnTo>
                  <a:lnTo>
                    <a:pt x="3058388" y="171640"/>
                  </a:lnTo>
                  <a:lnTo>
                    <a:pt x="3046145" y="216255"/>
                  </a:lnTo>
                  <a:lnTo>
                    <a:pt x="3043948" y="240792"/>
                  </a:lnTo>
                  <a:lnTo>
                    <a:pt x="26416" y="240792"/>
                  </a:lnTo>
                  <a:lnTo>
                    <a:pt x="16116" y="242874"/>
                  </a:lnTo>
                  <a:lnTo>
                    <a:pt x="7721" y="248526"/>
                  </a:lnTo>
                  <a:lnTo>
                    <a:pt x="2070" y="256921"/>
                  </a:lnTo>
                  <a:lnTo>
                    <a:pt x="0" y="267208"/>
                  </a:lnTo>
                  <a:lnTo>
                    <a:pt x="0" y="305816"/>
                  </a:lnTo>
                  <a:lnTo>
                    <a:pt x="2070" y="316115"/>
                  </a:lnTo>
                  <a:lnTo>
                    <a:pt x="7721" y="324510"/>
                  </a:lnTo>
                  <a:lnTo>
                    <a:pt x="16116" y="330161"/>
                  </a:lnTo>
                  <a:lnTo>
                    <a:pt x="26416" y="332232"/>
                  </a:lnTo>
                  <a:lnTo>
                    <a:pt x="3051949" y="332232"/>
                  </a:lnTo>
                  <a:lnTo>
                    <a:pt x="3058388" y="355676"/>
                  </a:lnTo>
                  <a:lnTo>
                    <a:pt x="3077883" y="396748"/>
                  </a:lnTo>
                  <a:lnTo>
                    <a:pt x="3103880" y="433552"/>
                  </a:lnTo>
                  <a:lnTo>
                    <a:pt x="3135655" y="465328"/>
                  </a:lnTo>
                  <a:lnTo>
                    <a:pt x="3172460" y="491324"/>
                  </a:lnTo>
                  <a:lnTo>
                    <a:pt x="3213531" y="510819"/>
                  </a:lnTo>
                  <a:lnTo>
                    <a:pt x="3258147" y="523062"/>
                  </a:lnTo>
                  <a:lnTo>
                    <a:pt x="3305556" y="527304"/>
                  </a:lnTo>
                  <a:lnTo>
                    <a:pt x="3352952" y="523062"/>
                  </a:lnTo>
                  <a:lnTo>
                    <a:pt x="3397567" y="510819"/>
                  </a:lnTo>
                  <a:lnTo>
                    <a:pt x="3438652" y="491324"/>
                  </a:lnTo>
                  <a:lnTo>
                    <a:pt x="3475444" y="465328"/>
                  </a:lnTo>
                  <a:lnTo>
                    <a:pt x="3507219" y="433552"/>
                  </a:lnTo>
                  <a:lnTo>
                    <a:pt x="3533216" y="396748"/>
                  </a:lnTo>
                  <a:lnTo>
                    <a:pt x="3552710" y="355676"/>
                  </a:lnTo>
                  <a:lnTo>
                    <a:pt x="3559137" y="332232"/>
                  </a:lnTo>
                  <a:lnTo>
                    <a:pt x="6584696" y="332232"/>
                  </a:lnTo>
                  <a:lnTo>
                    <a:pt x="6594983" y="330161"/>
                  </a:lnTo>
                  <a:lnTo>
                    <a:pt x="6603378" y="324510"/>
                  </a:lnTo>
                  <a:lnTo>
                    <a:pt x="6609029" y="316115"/>
                  </a:lnTo>
                  <a:lnTo>
                    <a:pt x="6611112" y="305816"/>
                  </a:lnTo>
                  <a:lnTo>
                    <a:pt x="6611112" y="267208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593069" y="412737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90535" y="4709540"/>
            <a:ext cx="5894070" cy="65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solidFill>
                  <a:srgbClr val="C2C4B5"/>
                </a:solidFill>
                <a:latin typeface="Nirmala UI"/>
                <a:cs typeface="Nirmala UI"/>
              </a:rPr>
              <a:t>MySQL</a:t>
            </a:r>
            <a:endParaRPr sz="170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Central</a:t>
            </a:r>
            <a:r>
              <a:rPr sz="13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350" spc="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repository</a:t>
            </a:r>
            <a:r>
              <a:rPr sz="1350" spc="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3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customers,</a:t>
            </a:r>
            <a:r>
              <a:rPr sz="13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agents,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appointments,</a:t>
            </a:r>
            <a:r>
              <a:rPr sz="1350" spc="1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C2C4B5"/>
                </a:solidFill>
                <a:latin typeface="Cambria"/>
                <a:cs typeface="Cambria"/>
              </a:rPr>
              <a:t>policies.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5695" y="6044184"/>
            <a:ext cx="6611620" cy="1564005"/>
            <a:chOff x="615695" y="6044184"/>
            <a:chExt cx="6611620" cy="1564005"/>
          </a:xfrm>
        </p:grpSpPr>
        <p:sp>
          <p:nvSpPr>
            <p:cNvPr id="25" name="object 25"/>
            <p:cNvSpPr/>
            <p:nvPr/>
          </p:nvSpPr>
          <p:spPr>
            <a:xfrm>
              <a:off x="615695" y="6306312"/>
              <a:ext cx="6611620" cy="1301750"/>
            </a:xfrm>
            <a:custGeom>
              <a:avLst/>
              <a:gdLst/>
              <a:ahLst/>
              <a:cxnLst/>
              <a:rect l="l" t="t" r="r" b="b"/>
              <a:pathLst>
                <a:path w="6611620" h="1301750">
                  <a:moveTo>
                    <a:pt x="6501257" y="0"/>
                  </a:moveTo>
                  <a:lnTo>
                    <a:pt x="109880" y="0"/>
                  </a:lnTo>
                  <a:lnTo>
                    <a:pt x="67111" y="8628"/>
                  </a:lnTo>
                  <a:lnTo>
                    <a:pt x="32184" y="32162"/>
                  </a:lnTo>
                  <a:lnTo>
                    <a:pt x="8635" y="67079"/>
                  </a:lnTo>
                  <a:lnTo>
                    <a:pt x="0" y="109855"/>
                  </a:lnTo>
                  <a:lnTo>
                    <a:pt x="0" y="1191615"/>
                  </a:lnTo>
                  <a:lnTo>
                    <a:pt x="8635" y="1234384"/>
                  </a:lnTo>
                  <a:lnTo>
                    <a:pt x="32184" y="1269311"/>
                  </a:lnTo>
                  <a:lnTo>
                    <a:pt x="67111" y="1292860"/>
                  </a:lnTo>
                  <a:lnTo>
                    <a:pt x="109880" y="1301496"/>
                  </a:lnTo>
                  <a:lnTo>
                    <a:pt x="6501257" y="1301496"/>
                  </a:lnTo>
                  <a:lnTo>
                    <a:pt x="6544032" y="1292860"/>
                  </a:lnTo>
                  <a:lnTo>
                    <a:pt x="6578949" y="1269311"/>
                  </a:lnTo>
                  <a:lnTo>
                    <a:pt x="6602483" y="1234384"/>
                  </a:lnTo>
                  <a:lnTo>
                    <a:pt x="6611111" y="1191615"/>
                  </a:lnTo>
                  <a:lnTo>
                    <a:pt x="6611111" y="109855"/>
                  </a:lnTo>
                  <a:lnTo>
                    <a:pt x="6602483" y="67079"/>
                  </a:lnTo>
                  <a:lnTo>
                    <a:pt x="6578949" y="32162"/>
                  </a:lnTo>
                  <a:lnTo>
                    <a:pt x="6544032" y="8628"/>
                  </a:lnTo>
                  <a:lnTo>
                    <a:pt x="6501257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5696" y="6044184"/>
              <a:ext cx="6611620" cy="527685"/>
            </a:xfrm>
            <a:custGeom>
              <a:avLst/>
              <a:gdLst/>
              <a:ahLst/>
              <a:cxnLst/>
              <a:rect l="l" t="t" r="r" b="b"/>
              <a:pathLst>
                <a:path w="6611620" h="527684">
                  <a:moveTo>
                    <a:pt x="6611112" y="267208"/>
                  </a:moveTo>
                  <a:lnTo>
                    <a:pt x="6609029" y="256921"/>
                  </a:lnTo>
                  <a:lnTo>
                    <a:pt x="6603378" y="248526"/>
                  </a:lnTo>
                  <a:lnTo>
                    <a:pt x="6594983" y="242874"/>
                  </a:lnTo>
                  <a:lnTo>
                    <a:pt x="6584696" y="240792"/>
                  </a:lnTo>
                  <a:lnTo>
                    <a:pt x="3567150" y="240792"/>
                  </a:lnTo>
                  <a:lnTo>
                    <a:pt x="3564953" y="216255"/>
                  </a:lnTo>
                  <a:lnTo>
                    <a:pt x="3552710" y="171640"/>
                  </a:lnTo>
                  <a:lnTo>
                    <a:pt x="3533216" y="130556"/>
                  </a:lnTo>
                  <a:lnTo>
                    <a:pt x="3507219" y="93764"/>
                  </a:lnTo>
                  <a:lnTo>
                    <a:pt x="3475444" y="61988"/>
                  </a:lnTo>
                  <a:lnTo>
                    <a:pt x="3438652" y="35991"/>
                  </a:lnTo>
                  <a:lnTo>
                    <a:pt x="3397567" y="16497"/>
                  </a:lnTo>
                  <a:lnTo>
                    <a:pt x="3352952" y="4254"/>
                  </a:lnTo>
                  <a:lnTo>
                    <a:pt x="3305556" y="0"/>
                  </a:lnTo>
                  <a:lnTo>
                    <a:pt x="3258147" y="4254"/>
                  </a:lnTo>
                  <a:lnTo>
                    <a:pt x="3213531" y="16497"/>
                  </a:lnTo>
                  <a:lnTo>
                    <a:pt x="3172460" y="35991"/>
                  </a:lnTo>
                  <a:lnTo>
                    <a:pt x="3135655" y="61988"/>
                  </a:lnTo>
                  <a:lnTo>
                    <a:pt x="3103880" y="93764"/>
                  </a:lnTo>
                  <a:lnTo>
                    <a:pt x="3077883" y="130556"/>
                  </a:lnTo>
                  <a:lnTo>
                    <a:pt x="3058388" y="171640"/>
                  </a:lnTo>
                  <a:lnTo>
                    <a:pt x="3046145" y="216255"/>
                  </a:lnTo>
                  <a:lnTo>
                    <a:pt x="3043948" y="240792"/>
                  </a:lnTo>
                  <a:lnTo>
                    <a:pt x="26377" y="240792"/>
                  </a:lnTo>
                  <a:lnTo>
                    <a:pt x="16103" y="242874"/>
                  </a:lnTo>
                  <a:lnTo>
                    <a:pt x="7721" y="248526"/>
                  </a:lnTo>
                  <a:lnTo>
                    <a:pt x="2070" y="256921"/>
                  </a:lnTo>
                  <a:lnTo>
                    <a:pt x="0" y="267208"/>
                  </a:lnTo>
                  <a:lnTo>
                    <a:pt x="0" y="305816"/>
                  </a:lnTo>
                  <a:lnTo>
                    <a:pt x="2070" y="316115"/>
                  </a:lnTo>
                  <a:lnTo>
                    <a:pt x="7721" y="324510"/>
                  </a:lnTo>
                  <a:lnTo>
                    <a:pt x="16103" y="330161"/>
                  </a:lnTo>
                  <a:lnTo>
                    <a:pt x="26377" y="332232"/>
                  </a:lnTo>
                  <a:lnTo>
                    <a:pt x="3051949" y="332232"/>
                  </a:lnTo>
                  <a:lnTo>
                    <a:pt x="3058388" y="355676"/>
                  </a:lnTo>
                  <a:lnTo>
                    <a:pt x="3077883" y="396748"/>
                  </a:lnTo>
                  <a:lnTo>
                    <a:pt x="3103880" y="433552"/>
                  </a:lnTo>
                  <a:lnTo>
                    <a:pt x="3135655" y="465328"/>
                  </a:lnTo>
                  <a:lnTo>
                    <a:pt x="3172460" y="491324"/>
                  </a:lnTo>
                  <a:lnTo>
                    <a:pt x="3213531" y="510819"/>
                  </a:lnTo>
                  <a:lnTo>
                    <a:pt x="3258147" y="523062"/>
                  </a:lnTo>
                  <a:lnTo>
                    <a:pt x="3305556" y="527304"/>
                  </a:lnTo>
                  <a:lnTo>
                    <a:pt x="3352952" y="523062"/>
                  </a:lnTo>
                  <a:lnTo>
                    <a:pt x="3397567" y="510819"/>
                  </a:lnTo>
                  <a:lnTo>
                    <a:pt x="3438652" y="491324"/>
                  </a:lnTo>
                  <a:lnTo>
                    <a:pt x="3475444" y="465328"/>
                  </a:lnTo>
                  <a:lnTo>
                    <a:pt x="3507219" y="433552"/>
                  </a:lnTo>
                  <a:lnTo>
                    <a:pt x="3533216" y="396748"/>
                  </a:lnTo>
                  <a:lnTo>
                    <a:pt x="3552710" y="355676"/>
                  </a:lnTo>
                  <a:lnTo>
                    <a:pt x="3559137" y="332232"/>
                  </a:lnTo>
                  <a:lnTo>
                    <a:pt x="6584696" y="332232"/>
                  </a:lnTo>
                  <a:lnTo>
                    <a:pt x="6594983" y="330161"/>
                  </a:lnTo>
                  <a:lnTo>
                    <a:pt x="6603378" y="324510"/>
                  </a:lnTo>
                  <a:lnTo>
                    <a:pt x="6609029" y="316115"/>
                  </a:lnTo>
                  <a:lnTo>
                    <a:pt x="6611112" y="305816"/>
                  </a:lnTo>
                  <a:lnTo>
                    <a:pt x="6611112" y="267208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23842" y="617385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1420" y="6730695"/>
            <a:ext cx="575310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C2C4B5"/>
                </a:solidFill>
                <a:latin typeface="Nirmala UI"/>
                <a:cs typeface="Nirmala UI"/>
              </a:rPr>
              <a:t>Maven</a:t>
            </a:r>
            <a:endParaRPr sz="170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Build</a:t>
            </a:r>
            <a:r>
              <a:rPr sz="13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3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dependency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80" dirty="0">
                <a:solidFill>
                  <a:srgbClr val="C2C4B5"/>
                </a:solidFill>
                <a:latin typeface="Cambria"/>
                <a:cs typeface="Cambria"/>
              </a:rPr>
              <a:t>management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tool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350" spc="9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Spring</a:t>
            </a:r>
            <a:r>
              <a:rPr sz="13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C2C4B5"/>
                </a:solidFill>
                <a:latin typeface="Cambria"/>
                <a:cs typeface="Cambria"/>
              </a:rPr>
              <a:t>Boot</a:t>
            </a:r>
            <a:r>
              <a:rPr sz="1350" spc="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-10" dirty="0">
                <a:solidFill>
                  <a:srgbClr val="C2C4B5"/>
                </a:solidFill>
                <a:latin typeface="Cambria"/>
                <a:cs typeface="Cambria"/>
              </a:rPr>
              <a:t>application.</a:t>
            </a:r>
            <a:endParaRPr sz="135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03592" y="6044184"/>
            <a:ext cx="6611620" cy="1564005"/>
            <a:chOff x="7403592" y="6044184"/>
            <a:chExt cx="6611620" cy="1564005"/>
          </a:xfrm>
        </p:grpSpPr>
        <p:sp>
          <p:nvSpPr>
            <p:cNvPr id="30" name="object 30"/>
            <p:cNvSpPr/>
            <p:nvPr/>
          </p:nvSpPr>
          <p:spPr>
            <a:xfrm>
              <a:off x="7403592" y="6306312"/>
              <a:ext cx="6611620" cy="1301750"/>
            </a:xfrm>
            <a:custGeom>
              <a:avLst/>
              <a:gdLst/>
              <a:ahLst/>
              <a:cxnLst/>
              <a:rect l="l" t="t" r="r" b="b"/>
              <a:pathLst>
                <a:path w="6611619" h="1301750">
                  <a:moveTo>
                    <a:pt x="6501257" y="0"/>
                  </a:moveTo>
                  <a:lnTo>
                    <a:pt x="109855" y="0"/>
                  </a:lnTo>
                  <a:lnTo>
                    <a:pt x="67079" y="8628"/>
                  </a:lnTo>
                  <a:lnTo>
                    <a:pt x="32162" y="32162"/>
                  </a:lnTo>
                  <a:lnTo>
                    <a:pt x="8628" y="67079"/>
                  </a:lnTo>
                  <a:lnTo>
                    <a:pt x="0" y="109855"/>
                  </a:lnTo>
                  <a:lnTo>
                    <a:pt x="0" y="1191615"/>
                  </a:lnTo>
                  <a:lnTo>
                    <a:pt x="8628" y="1234384"/>
                  </a:lnTo>
                  <a:lnTo>
                    <a:pt x="32162" y="1269311"/>
                  </a:lnTo>
                  <a:lnTo>
                    <a:pt x="67079" y="1292860"/>
                  </a:lnTo>
                  <a:lnTo>
                    <a:pt x="109855" y="1301496"/>
                  </a:lnTo>
                  <a:lnTo>
                    <a:pt x="6501257" y="1301496"/>
                  </a:lnTo>
                  <a:lnTo>
                    <a:pt x="6544032" y="1292860"/>
                  </a:lnTo>
                  <a:lnTo>
                    <a:pt x="6578949" y="1269311"/>
                  </a:lnTo>
                  <a:lnTo>
                    <a:pt x="6602483" y="1234384"/>
                  </a:lnTo>
                  <a:lnTo>
                    <a:pt x="6611111" y="1191615"/>
                  </a:lnTo>
                  <a:lnTo>
                    <a:pt x="6611111" y="109855"/>
                  </a:lnTo>
                  <a:lnTo>
                    <a:pt x="6602483" y="67079"/>
                  </a:lnTo>
                  <a:lnTo>
                    <a:pt x="6578949" y="32162"/>
                  </a:lnTo>
                  <a:lnTo>
                    <a:pt x="6544032" y="8628"/>
                  </a:lnTo>
                  <a:lnTo>
                    <a:pt x="6501257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03592" y="6044184"/>
              <a:ext cx="6611620" cy="527685"/>
            </a:xfrm>
            <a:custGeom>
              <a:avLst/>
              <a:gdLst/>
              <a:ahLst/>
              <a:cxnLst/>
              <a:rect l="l" t="t" r="r" b="b"/>
              <a:pathLst>
                <a:path w="6611619" h="527684">
                  <a:moveTo>
                    <a:pt x="6611112" y="267208"/>
                  </a:moveTo>
                  <a:lnTo>
                    <a:pt x="6609029" y="256921"/>
                  </a:lnTo>
                  <a:lnTo>
                    <a:pt x="6603378" y="248526"/>
                  </a:lnTo>
                  <a:lnTo>
                    <a:pt x="6594983" y="242874"/>
                  </a:lnTo>
                  <a:lnTo>
                    <a:pt x="6584696" y="240792"/>
                  </a:lnTo>
                  <a:lnTo>
                    <a:pt x="3567150" y="240792"/>
                  </a:lnTo>
                  <a:lnTo>
                    <a:pt x="3564953" y="216255"/>
                  </a:lnTo>
                  <a:lnTo>
                    <a:pt x="3552710" y="171640"/>
                  </a:lnTo>
                  <a:lnTo>
                    <a:pt x="3533216" y="130556"/>
                  </a:lnTo>
                  <a:lnTo>
                    <a:pt x="3507219" y="93764"/>
                  </a:lnTo>
                  <a:lnTo>
                    <a:pt x="3475444" y="61988"/>
                  </a:lnTo>
                  <a:lnTo>
                    <a:pt x="3438652" y="35991"/>
                  </a:lnTo>
                  <a:lnTo>
                    <a:pt x="3397567" y="16497"/>
                  </a:lnTo>
                  <a:lnTo>
                    <a:pt x="3352952" y="4254"/>
                  </a:lnTo>
                  <a:lnTo>
                    <a:pt x="3305556" y="0"/>
                  </a:lnTo>
                  <a:lnTo>
                    <a:pt x="3258147" y="4254"/>
                  </a:lnTo>
                  <a:lnTo>
                    <a:pt x="3213531" y="16497"/>
                  </a:lnTo>
                  <a:lnTo>
                    <a:pt x="3172460" y="35991"/>
                  </a:lnTo>
                  <a:lnTo>
                    <a:pt x="3135655" y="61988"/>
                  </a:lnTo>
                  <a:lnTo>
                    <a:pt x="3103880" y="93764"/>
                  </a:lnTo>
                  <a:lnTo>
                    <a:pt x="3077883" y="130556"/>
                  </a:lnTo>
                  <a:lnTo>
                    <a:pt x="3058388" y="171640"/>
                  </a:lnTo>
                  <a:lnTo>
                    <a:pt x="3046145" y="216255"/>
                  </a:lnTo>
                  <a:lnTo>
                    <a:pt x="3043948" y="240792"/>
                  </a:lnTo>
                  <a:lnTo>
                    <a:pt x="26416" y="240792"/>
                  </a:lnTo>
                  <a:lnTo>
                    <a:pt x="16116" y="242874"/>
                  </a:lnTo>
                  <a:lnTo>
                    <a:pt x="7721" y="248526"/>
                  </a:lnTo>
                  <a:lnTo>
                    <a:pt x="2070" y="256921"/>
                  </a:lnTo>
                  <a:lnTo>
                    <a:pt x="0" y="267208"/>
                  </a:lnTo>
                  <a:lnTo>
                    <a:pt x="0" y="305816"/>
                  </a:lnTo>
                  <a:lnTo>
                    <a:pt x="2070" y="316115"/>
                  </a:lnTo>
                  <a:lnTo>
                    <a:pt x="7721" y="324510"/>
                  </a:lnTo>
                  <a:lnTo>
                    <a:pt x="16116" y="330161"/>
                  </a:lnTo>
                  <a:lnTo>
                    <a:pt x="26416" y="332232"/>
                  </a:lnTo>
                  <a:lnTo>
                    <a:pt x="3051949" y="332232"/>
                  </a:lnTo>
                  <a:lnTo>
                    <a:pt x="3058388" y="355676"/>
                  </a:lnTo>
                  <a:lnTo>
                    <a:pt x="3077883" y="396748"/>
                  </a:lnTo>
                  <a:lnTo>
                    <a:pt x="3103880" y="433552"/>
                  </a:lnTo>
                  <a:lnTo>
                    <a:pt x="3135655" y="465328"/>
                  </a:lnTo>
                  <a:lnTo>
                    <a:pt x="3172460" y="491324"/>
                  </a:lnTo>
                  <a:lnTo>
                    <a:pt x="3213531" y="510819"/>
                  </a:lnTo>
                  <a:lnTo>
                    <a:pt x="3258147" y="523062"/>
                  </a:lnTo>
                  <a:lnTo>
                    <a:pt x="3305556" y="527304"/>
                  </a:lnTo>
                  <a:lnTo>
                    <a:pt x="3352952" y="523062"/>
                  </a:lnTo>
                  <a:lnTo>
                    <a:pt x="3397567" y="510819"/>
                  </a:lnTo>
                  <a:lnTo>
                    <a:pt x="3438652" y="491324"/>
                  </a:lnTo>
                  <a:lnTo>
                    <a:pt x="3475444" y="465328"/>
                  </a:lnTo>
                  <a:lnTo>
                    <a:pt x="3507219" y="433552"/>
                  </a:lnTo>
                  <a:lnTo>
                    <a:pt x="3533216" y="396748"/>
                  </a:lnTo>
                  <a:lnTo>
                    <a:pt x="3552710" y="355676"/>
                  </a:lnTo>
                  <a:lnTo>
                    <a:pt x="3559137" y="332232"/>
                  </a:lnTo>
                  <a:lnTo>
                    <a:pt x="6584696" y="332232"/>
                  </a:lnTo>
                  <a:lnTo>
                    <a:pt x="6594983" y="330161"/>
                  </a:lnTo>
                  <a:lnTo>
                    <a:pt x="6603378" y="324510"/>
                  </a:lnTo>
                  <a:lnTo>
                    <a:pt x="6609029" y="316115"/>
                  </a:lnTo>
                  <a:lnTo>
                    <a:pt x="6611112" y="305816"/>
                  </a:lnTo>
                  <a:lnTo>
                    <a:pt x="6611112" y="267208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593069" y="615640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90535" y="6730695"/>
            <a:ext cx="569023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C2C4B5"/>
                </a:solidFill>
                <a:latin typeface="Nirmala UI"/>
                <a:cs typeface="Nirmala UI"/>
              </a:rPr>
              <a:t>IDEs</a:t>
            </a:r>
            <a:endParaRPr sz="170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IntelliJ</a:t>
            </a:r>
            <a:r>
              <a:rPr sz="13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5" dirty="0">
                <a:solidFill>
                  <a:srgbClr val="C2C4B5"/>
                </a:solidFill>
                <a:latin typeface="Cambria"/>
                <a:cs typeface="Cambria"/>
              </a:rPr>
              <a:t>IDEA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3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backend,</a:t>
            </a:r>
            <a:r>
              <a:rPr sz="13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Visual</a:t>
            </a:r>
            <a:r>
              <a:rPr sz="13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C2C4B5"/>
                </a:solidFill>
                <a:latin typeface="Cambria"/>
                <a:cs typeface="Cambria"/>
              </a:rPr>
              <a:t>Studio</a:t>
            </a:r>
            <a:r>
              <a:rPr sz="13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60" dirty="0">
                <a:solidFill>
                  <a:srgbClr val="C2C4B5"/>
                </a:solidFill>
                <a:latin typeface="Cambria"/>
                <a:cs typeface="Cambria"/>
              </a:rPr>
              <a:t>Code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1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C2C4B5"/>
                </a:solidFill>
                <a:latin typeface="Cambria"/>
                <a:cs typeface="Cambria"/>
              </a:rPr>
              <a:t>frontend</a:t>
            </a:r>
            <a:r>
              <a:rPr sz="1350" spc="8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350" spc="40" dirty="0">
                <a:solidFill>
                  <a:srgbClr val="C2C4B5"/>
                </a:solidFill>
                <a:latin typeface="Cambria"/>
                <a:cs typeface="Cambria"/>
              </a:rPr>
              <a:t>development.</a:t>
            </a:r>
            <a:endParaRPr sz="13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471" rIns="0" bIns="0" rtlCol="0">
            <a:spAutoFit/>
          </a:bodyPr>
          <a:lstStyle/>
          <a:p>
            <a:pPr marL="1875789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Functional</a:t>
            </a:r>
            <a:r>
              <a:rPr sz="4300" spc="-250" dirty="0"/>
              <a:t> </a:t>
            </a:r>
            <a:r>
              <a:rPr sz="4300" spc="-10" dirty="0"/>
              <a:t>Modules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757224" y="1770964"/>
            <a:ext cx="1046289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7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00" spc="-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integrates</a:t>
            </a:r>
            <a:r>
              <a:rPr sz="1700" spc="-9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several</a:t>
            </a:r>
            <a:r>
              <a:rPr sz="17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modules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complete</a:t>
            </a:r>
            <a:r>
              <a:rPr sz="17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automation</a:t>
            </a:r>
            <a:r>
              <a:rPr sz="1700" spc="-1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enhanced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user</a:t>
            </a:r>
            <a:r>
              <a:rPr sz="170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experience.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1144" y="2331720"/>
            <a:ext cx="6434455" cy="1618615"/>
          </a:xfrm>
          <a:custGeom>
            <a:avLst/>
            <a:gdLst/>
            <a:ahLst/>
            <a:cxnLst/>
            <a:rect l="l" t="t" r="r" b="b"/>
            <a:pathLst>
              <a:path w="6434455" h="1618614">
                <a:moveTo>
                  <a:pt x="6401308" y="0"/>
                </a:moveTo>
                <a:lnTo>
                  <a:pt x="32981" y="0"/>
                </a:lnTo>
                <a:lnTo>
                  <a:pt x="20145" y="2587"/>
                </a:lnTo>
                <a:lnTo>
                  <a:pt x="9661" y="9652"/>
                </a:lnTo>
                <a:lnTo>
                  <a:pt x="2592" y="20145"/>
                </a:lnTo>
                <a:lnTo>
                  <a:pt x="0" y="33020"/>
                </a:lnTo>
                <a:lnTo>
                  <a:pt x="0" y="1585468"/>
                </a:lnTo>
                <a:lnTo>
                  <a:pt x="2592" y="1598342"/>
                </a:lnTo>
                <a:lnTo>
                  <a:pt x="9661" y="1608836"/>
                </a:lnTo>
                <a:lnTo>
                  <a:pt x="20145" y="1615900"/>
                </a:lnTo>
                <a:lnTo>
                  <a:pt x="32981" y="1618488"/>
                </a:lnTo>
                <a:lnTo>
                  <a:pt x="6401308" y="1618488"/>
                </a:lnTo>
                <a:lnTo>
                  <a:pt x="6414182" y="1615900"/>
                </a:lnTo>
                <a:lnTo>
                  <a:pt x="6424676" y="1608836"/>
                </a:lnTo>
                <a:lnTo>
                  <a:pt x="6431740" y="1598342"/>
                </a:lnTo>
                <a:lnTo>
                  <a:pt x="6434328" y="1585468"/>
                </a:lnTo>
                <a:lnTo>
                  <a:pt x="6434328" y="33020"/>
                </a:lnTo>
                <a:lnTo>
                  <a:pt x="6431740" y="20145"/>
                </a:lnTo>
                <a:lnTo>
                  <a:pt x="6424676" y="9652"/>
                </a:lnTo>
                <a:lnTo>
                  <a:pt x="6414182" y="2587"/>
                </a:lnTo>
                <a:lnTo>
                  <a:pt x="6401308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6985" y="2520441"/>
            <a:ext cx="5831205" cy="11849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dirty="0">
                <a:solidFill>
                  <a:srgbClr val="C2C4B5"/>
                </a:solidFill>
                <a:latin typeface="Nirmala UI"/>
                <a:cs typeface="Nirmala UI"/>
              </a:rPr>
              <a:t>User</a:t>
            </a:r>
            <a:r>
              <a:rPr sz="2150" b="1" spc="-30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Nirmala UI"/>
                <a:cs typeface="Nirmala UI"/>
              </a:rPr>
              <a:t>Interface</a:t>
            </a:r>
            <a:endParaRPr sz="2150">
              <a:latin typeface="Nirmala UI"/>
              <a:cs typeface="Nirmala UI"/>
            </a:endParaRPr>
          </a:p>
          <a:p>
            <a:pPr marL="12700" marR="5080">
              <a:lnSpc>
                <a:spcPct val="136500"/>
              </a:lnSpc>
              <a:spcBef>
                <a:spcPts val="965"/>
              </a:spcBef>
            </a:pP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Responsive</a:t>
            </a:r>
            <a:r>
              <a:rPr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visually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rich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experience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HTML,</a:t>
            </a:r>
            <a:r>
              <a:rPr sz="17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CSS,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React.js.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24928" y="2331720"/>
            <a:ext cx="6437630" cy="1618615"/>
          </a:xfrm>
          <a:custGeom>
            <a:avLst/>
            <a:gdLst/>
            <a:ahLst/>
            <a:cxnLst/>
            <a:rect l="l" t="t" r="r" b="b"/>
            <a:pathLst>
              <a:path w="6437630" h="1618614">
                <a:moveTo>
                  <a:pt x="6404356" y="0"/>
                </a:moveTo>
                <a:lnTo>
                  <a:pt x="33020" y="0"/>
                </a:lnTo>
                <a:lnTo>
                  <a:pt x="20145" y="2587"/>
                </a:lnTo>
                <a:lnTo>
                  <a:pt x="9651" y="9652"/>
                </a:lnTo>
                <a:lnTo>
                  <a:pt x="2587" y="20145"/>
                </a:lnTo>
                <a:lnTo>
                  <a:pt x="0" y="33020"/>
                </a:lnTo>
                <a:lnTo>
                  <a:pt x="0" y="1585468"/>
                </a:lnTo>
                <a:lnTo>
                  <a:pt x="2587" y="1598342"/>
                </a:lnTo>
                <a:lnTo>
                  <a:pt x="9651" y="1608836"/>
                </a:lnTo>
                <a:lnTo>
                  <a:pt x="20145" y="1615900"/>
                </a:lnTo>
                <a:lnTo>
                  <a:pt x="33020" y="1618488"/>
                </a:lnTo>
                <a:lnTo>
                  <a:pt x="6404356" y="1618488"/>
                </a:lnTo>
                <a:lnTo>
                  <a:pt x="6417230" y="1615900"/>
                </a:lnTo>
                <a:lnTo>
                  <a:pt x="6427724" y="1608836"/>
                </a:lnTo>
                <a:lnTo>
                  <a:pt x="6434788" y="1598342"/>
                </a:lnTo>
                <a:lnTo>
                  <a:pt x="6437376" y="1585468"/>
                </a:lnTo>
                <a:lnTo>
                  <a:pt x="6437376" y="33020"/>
                </a:lnTo>
                <a:lnTo>
                  <a:pt x="6434788" y="20145"/>
                </a:lnTo>
                <a:lnTo>
                  <a:pt x="6427724" y="9652"/>
                </a:lnTo>
                <a:lnTo>
                  <a:pt x="6417230" y="2587"/>
                </a:lnTo>
                <a:lnTo>
                  <a:pt x="6404356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3842" y="2520441"/>
            <a:ext cx="5853557" cy="11759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2150" b="1" dirty="0">
                <a:solidFill>
                  <a:srgbClr val="C2C4B5"/>
                </a:solidFill>
                <a:latin typeface="Nirmala UI"/>
                <a:cs typeface="Nirmala UI"/>
              </a:rPr>
              <a:t>Agent Availability</a:t>
            </a:r>
            <a:endParaRPr lang="en-IN" sz="2150" b="1" spc="-10" dirty="0">
              <a:solidFill>
                <a:srgbClr val="C2C4B5"/>
              </a:solidFill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lang="en-US" sz="1700" spc="100" dirty="0">
                <a:solidFill>
                  <a:srgbClr val="C2C4B5"/>
                </a:solidFill>
                <a:latin typeface="Cambria"/>
                <a:cs typeface="Cambria"/>
              </a:rPr>
              <a:t>Agents</a:t>
            </a:r>
            <a:r>
              <a:rPr lang="en-US" sz="1700" spc="-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75" dirty="0">
                <a:solidFill>
                  <a:srgbClr val="C2C4B5"/>
                </a:solidFill>
                <a:latin typeface="Cambria"/>
                <a:cs typeface="Cambria"/>
              </a:rPr>
              <a:t>update</a:t>
            </a:r>
            <a:r>
              <a:rPr lang="en-US"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70" dirty="0">
                <a:solidFill>
                  <a:srgbClr val="C2C4B5"/>
                </a:solidFill>
                <a:latin typeface="Cambria"/>
                <a:cs typeface="Cambria"/>
              </a:rPr>
              <a:t>working</a:t>
            </a:r>
            <a:r>
              <a:rPr lang="en-US"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75" dirty="0">
                <a:solidFill>
                  <a:srgbClr val="C2C4B5"/>
                </a:solidFill>
                <a:latin typeface="Cambria"/>
                <a:cs typeface="Cambria"/>
              </a:rPr>
              <a:t>hours,</a:t>
            </a:r>
            <a:r>
              <a:rPr lang="en-US"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75" dirty="0">
                <a:solidFill>
                  <a:srgbClr val="C2C4B5"/>
                </a:solidFill>
                <a:latin typeface="Cambria"/>
                <a:cs typeface="Cambria"/>
              </a:rPr>
              <a:t>dynamically</a:t>
            </a:r>
            <a:r>
              <a:rPr lang="en-US"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75" dirty="0">
                <a:solidFill>
                  <a:srgbClr val="C2C4B5"/>
                </a:solidFill>
                <a:latin typeface="Cambria"/>
                <a:cs typeface="Cambria"/>
              </a:rPr>
              <a:t>reflected</a:t>
            </a:r>
            <a:r>
              <a:rPr lang="en-US" sz="17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4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endParaRPr lang="en-US"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sz="1700" spc="75" dirty="0">
                <a:solidFill>
                  <a:srgbClr val="C2C4B5"/>
                </a:solidFill>
                <a:latin typeface="Cambria"/>
                <a:cs typeface="Cambria"/>
              </a:rPr>
              <a:t>customers.</a:t>
            </a:r>
            <a:endParaRPr lang="en-US" sz="1700" dirty="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144" y="4169664"/>
            <a:ext cx="6434455" cy="1618615"/>
          </a:xfrm>
          <a:custGeom>
            <a:avLst/>
            <a:gdLst/>
            <a:ahLst/>
            <a:cxnLst/>
            <a:rect l="l" t="t" r="r" b="b"/>
            <a:pathLst>
              <a:path w="6434455" h="1618614">
                <a:moveTo>
                  <a:pt x="6401308" y="0"/>
                </a:moveTo>
                <a:lnTo>
                  <a:pt x="32981" y="0"/>
                </a:lnTo>
                <a:lnTo>
                  <a:pt x="20145" y="2587"/>
                </a:lnTo>
                <a:lnTo>
                  <a:pt x="9661" y="9652"/>
                </a:lnTo>
                <a:lnTo>
                  <a:pt x="2592" y="20145"/>
                </a:lnTo>
                <a:lnTo>
                  <a:pt x="0" y="33020"/>
                </a:lnTo>
                <a:lnTo>
                  <a:pt x="0" y="1585468"/>
                </a:lnTo>
                <a:lnTo>
                  <a:pt x="2592" y="1598342"/>
                </a:lnTo>
                <a:lnTo>
                  <a:pt x="9661" y="1608836"/>
                </a:lnTo>
                <a:lnTo>
                  <a:pt x="20145" y="1615900"/>
                </a:lnTo>
                <a:lnTo>
                  <a:pt x="32981" y="1618488"/>
                </a:lnTo>
                <a:lnTo>
                  <a:pt x="6401308" y="1618488"/>
                </a:lnTo>
                <a:lnTo>
                  <a:pt x="6414182" y="1615900"/>
                </a:lnTo>
                <a:lnTo>
                  <a:pt x="6424676" y="1608836"/>
                </a:lnTo>
                <a:lnTo>
                  <a:pt x="6431740" y="1598342"/>
                </a:lnTo>
                <a:lnTo>
                  <a:pt x="6434328" y="1585468"/>
                </a:lnTo>
                <a:lnTo>
                  <a:pt x="6434328" y="33020"/>
                </a:lnTo>
                <a:lnTo>
                  <a:pt x="6431740" y="20145"/>
                </a:lnTo>
                <a:lnTo>
                  <a:pt x="6424676" y="9652"/>
                </a:lnTo>
                <a:lnTo>
                  <a:pt x="6414182" y="2587"/>
                </a:lnTo>
                <a:lnTo>
                  <a:pt x="6401308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6985" y="4359655"/>
            <a:ext cx="5109210" cy="11849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dirty="0">
                <a:solidFill>
                  <a:srgbClr val="C2C4B5"/>
                </a:solidFill>
                <a:latin typeface="Nirmala UI"/>
                <a:cs typeface="Nirmala UI"/>
              </a:rPr>
              <a:t>Appointment</a:t>
            </a:r>
            <a:r>
              <a:rPr sz="2150" b="1" spc="-65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Nirmala UI"/>
                <a:cs typeface="Nirmala UI"/>
              </a:rPr>
              <a:t>Scheduling</a:t>
            </a:r>
            <a:endParaRPr sz="21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Calendar-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based</a:t>
            </a:r>
            <a:r>
              <a:rPr sz="1700" spc="-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00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booking</a:t>
            </a:r>
            <a:r>
              <a:rPr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appointments,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preventing</a:t>
            </a:r>
            <a:r>
              <a:rPr sz="1700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overlaps.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24928" y="4169664"/>
            <a:ext cx="6437630" cy="1618615"/>
          </a:xfrm>
          <a:custGeom>
            <a:avLst/>
            <a:gdLst/>
            <a:ahLst/>
            <a:cxnLst/>
            <a:rect l="l" t="t" r="r" b="b"/>
            <a:pathLst>
              <a:path w="6437630" h="1618614">
                <a:moveTo>
                  <a:pt x="6404356" y="0"/>
                </a:moveTo>
                <a:lnTo>
                  <a:pt x="33020" y="0"/>
                </a:lnTo>
                <a:lnTo>
                  <a:pt x="20145" y="2587"/>
                </a:lnTo>
                <a:lnTo>
                  <a:pt x="9651" y="9652"/>
                </a:lnTo>
                <a:lnTo>
                  <a:pt x="2587" y="20145"/>
                </a:lnTo>
                <a:lnTo>
                  <a:pt x="0" y="33020"/>
                </a:lnTo>
                <a:lnTo>
                  <a:pt x="0" y="1585468"/>
                </a:lnTo>
                <a:lnTo>
                  <a:pt x="2587" y="1598342"/>
                </a:lnTo>
                <a:lnTo>
                  <a:pt x="9651" y="1608836"/>
                </a:lnTo>
                <a:lnTo>
                  <a:pt x="20145" y="1615900"/>
                </a:lnTo>
                <a:lnTo>
                  <a:pt x="33020" y="1618488"/>
                </a:lnTo>
                <a:lnTo>
                  <a:pt x="6404356" y="1618488"/>
                </a:lnTo>
                <a:lnTo>
                  <a:pt x="6417230" y="1615900"/>
                </a:lnTo>
                <a:lnTo>
                  <a:pt x="6427724" y="1608836"/>
                </a:lnTo>
                <a:lnTo>
                  <a:pt x="6434788" y="1598342"/>
                </a:lnTo>
                <a:lnTo>
                  <a:pt x="6437376" y="1585468"/>
                </a:lnTo>
                <a:lnTo>
                  <a:pt x="6437376" y="33020"/>
                </a:lnTo>
                <a:lnTo>
                  <a:pt x="6434788" y="20145"/>
                </a:lnTo>
                <a:lnTo>
                  <a:pt x="6427724" y="9652"/>
                </a:lnTo>
                <a:lnTo>
                  <a:pt x="6417230" y="2587"/>
                </a:lnTo>
                <a:lnTo>
                  <a:pt x="6404356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7633843" y="4359655"/>
            <a:ext cx="5601335" cy="115005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dirty="0">
                <a:solidFill>
                  <a:srgbClr val="C2C4B5"/>
                </a:solidFill>
                <a:latin typeface="Nirmala UI"/>
                <a:cs typeface="Nirmala UI"/>
              </a:rPr>
              <a:t>A</a:t>
            </a:r>
            <a:r>
              <a:rPr lang="en-IN" sz="2150" b="1" dirty="0" err="1">
                <a:solidFill>
                  <a:srgbClr val="C2C4B5"/>
                </a:solidFill>
                <a:latin typeface="Nirmala UI"/>
                <a:cs typeface="Nirmala UI"/>
              </a:rPr>
              <a:t>dmin</a:t>
            </a:r>
            <a:r>
              <a:rPr lang="en-IN" sz="2150" b="1" dirty="0">
                <a:solidFill>
                  <a:srgbClr val="C2C4B5"/>
                </a:solidFill>
                <a:latin typeface="Nirmala UI"/>
                <a:cs typeface="Nirmala UI"/>
              </a:rPr>
              <a:t> Dashboard &amp; Notification</a:t>
            </a:r>
            <a:endParaRPr lang="en-US" sz="2150" b="1" dirty="0">
              <a:solidFill>
                <a:srgbClr val="C2C4B5"/>
              </a:solidFill>
              <a:latin typeface="Nirmala UI"/>
              <a:cs typeface="Nirmala UI"/>
            </a:endParaRPr>
          </a:p>
          <a:p>
            <a:pPr marL="12700" marR="5080">
              <a:lnSpc>
                <a:spcPct val="136600"/>
              </a:lnSpc>
              <a:spcBef>
                <a:spcPts val="965"/>
              </a:spcBef>
            </a:pPr>
            <a:r>
              <a:rPr lang="en-US" sz="1700" spc="70" dirty="0">
                <a:solidFill>
                  <a:srgbClr val="C2C4B5"/>
                </a:solidFill>
                <a:latin typeface="Cambria"/>
                <a:cs typeface="Cambria"/>
              </a:rPr>
              <a:t>Control</a:t>
            </a:r>
            <a:r>
              <a:rPr lang="en-US"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60" dirty="0">
                <a:solidFill>
                  <a:srgbClr val="C2C4B5"/>
                </a:solidFill>
                <a:latin typeface="Cambria"/>
                <a:cs typeface="Cambria"/>
              </a:rPr>
              <a:t>over</a:t>
            </a:r>
            <a:r>
              <a:rPr lang="en-US"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114" dirty="0">
                <a:solidFill>
                  <a:srgbClr val="C2C4B5"/>
                </a:solidFill>
                <a:latin typeface="Cambria"/>
                <a:cs typeface="Cambria"/>
              </a:rPr>
              <a:t>management,</a:t>
            </a:r>
            <a:r>
              <a:rPr lang="en-US" sz="1700" spc="-8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100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lang="en-US" sz="1700" spc="95" dirty="0">
                <a:solidFill>
                  <a:srgbClr val="C2C4B5"/>
                </a:solidFill>
                <a:latin typeface="Cambria"/>
                <a:cs typeface="Cambria"/>
              </a:rPr>
              <a:t>time</a:t>
            </a:r>
            <a:r>
              <a:rPr lang="en-US" sz="170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65" dirty="0">
                <a:solidFill>
                  <a:srgbClr val="C2C4B5"/>
                </a:solidFill>
                <a:latin typeface="Cambria"/>
                <a:cs typeface="Cambria"/>
              </a:rPr>
              <a:t>analytics,</a:t>
            </a:r>
            <a:r>
              <a:rPr lang="en-US" sz="17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75" dirty="0">
                <a:solidFill>
                  <a:srgbClr val="C2C4B5"/>
                </a:solidFill>
                <a:latin typeface="Cambria"/>
                <a:cs typeface="Cambria"/>
              </a:rPr>
              <a:t>and </a:t>
            </a:r>
            <a:r>
              <a:rPr lang="en-US" sz="1700" spc="95" dirty="0">
                <a:solidFill>
                  <a:srgbClr val="C2C4B5"/>
                </a:solidFill>
                <a:latin typeface="Cambria"/>
                <a:cs typeface="Cambria"/>
              </a:rPr>
              <a:t>automated</a:t>
            </a:r>
            <a:r>
              <a:rPr lang="en-US" sz="1700" spc="-1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lang="en-US" sz="1700" spc="45" dirty="0">
                <a:solidFill>
                  <a:srgbClr val="C2C4B5"/>
                </a:solidFill>
                <a:latin typeface="Cambria"/>
                <a:cs typeface="Cambria"/>
              </a:rPr>
              <a:t>alerts.</a:t>
            </a:r>
            <a:endParaRPr lang="en-US" sz="1700" dirty="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1144" y="6007608"/>
            <a:ext cx="6434455" cy="1618615"/>
          </a:xfrm>
          <a:custGeom>
            <a:avLst/>
            <a:gdLst/>
            <a:ahLst/>
            <a:cxnLst/>
            <a:rect l="l" t="t" r="r" b="b"/>
            <a:pathLst>
              <a:path w="6434455" h="1618615">
                <a:moveTo>
                  <a:pt x="6401308" y="0"/>
                </a:moveTo>
                <a:lnTo>
                  <a:pt x="32981" y="0"/>
                </a:lnTo>
                <a:lnTo>
                  <a:pt x="20145" y="2587"/>
                </a:lnTo>
                <a:lnTo>
                  <a:pt x="9661" y="9652"/>
                </a:lnTo>
                <a:lnTo>
                  <a:pt x="2592" y="20145"/>
                </a:lnTo>
                <a:lnTo>
                  <a:pt x="0" y="33020"/>
                </a:lnTo>
                <a:lnTo>
                  <a:pt x="0" y="1585506"/>
                </a:lnTo>
                <a:lnTo>
                  <a:pt x="2592" y="1598342"/>
                </a:lnTo>
                <a:lnTo>
                  <a:pt x="9661" y="1608826"/>
                </a:lnTo>
                <a:lnTo>
                  <a:pt x="20145" y="1615895"/>
                </a:lnTo>
                <a:lnTo>
                  <a:pt x="32981" y="1618488"/>
                </a:lnTo>
                <a:lnTo>
                  <a:pt x="6401308" y="1618488"/>
                </a:lnTo>
                <a:lnTo>
                  <a:pt x="6414182" y="1615895"/>
                </a:lnTo>
                <a:lnTo>
                  <a:pt x="6424676" y="1608826"/>
                </a:lnTo>
                <a:lnTo>
                  <a:pt x="6431740" y="1598342"/>
                </a:lnTo>
                <a:lnTo>
                  <a:pt x="6434328" y="1585506"/>
                </a:lnTo>
                <a:lnTo>
                  <a:pt x="6434328" y="33020"/>
                </a:lnTo>
                <a:lnTo>
                  <a:pt x="6431740" y="20145"/>
                </a:lnTo>
                <a:lnTo>
                  <a:pt x="6424676" y="9652"/>
                </a:lnTo>
                <a:lnTo>
                  <a:pt x="6414182" y="2587"/>
                </a:lnTo>
                <a:lnTo>
                  <a:pt x="6401308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76985" y="6198565"/>
            <a:ext cx="5957570" cy="1185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dirty="0">
                <a:solidFill>
                  <a:srgbClr val="C2C4B5"/>
                </a:solidFill>
                <a:latin typeface="Nirmala UI"/>
                <a:cs typeface="Nirmala UI"/>
              </a:rPr>
              <a:t>Policy</a:t>
            </a:r>
            <a:r>
              <a:rPr sz="2150" b="1" spc="-20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Nirmala UI"/>
                <a:cs typeface="Nirmala UI"/>
              </a:rPr>
              <a:t>Management</a:t>
            </a:r>
            <a:endParaRPr sz="2150">
              <a:latin typeface="Nirmala UI"/>
              <a:cs typeface="Nirmala UI"/>
            </a:endParaRPr>
          </a:p>
          <a:p>
            <a:pPr marL="12700" marR="5080">
              <a:lnSpc>
                <a:spcPct val="136600"/>
              </a:lnSpc>
              <a:spcBef>
                <a:spcPts val="965"/>
              </a:spcBef>
            </a:pP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Organized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display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insurance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policies;</a:t>
            </a: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admins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can</a:t>
            </a:r>
            <a:r>
              <a:rPr sz="170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update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data.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723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0"/>
              </a:spcBef>
            </a:pPr>
            <a:r>
              <a:rPr dirty="0"/>
              <a:t>System</a:t>
            </a:r>
            <a:r>
              <a:rPr spc="-90" dirty="0"/>
              <a:t> </a:t>
            </a:r>
            <a:r>
              <a:rPr dirty="0"/>
              <a:t>Architecture</a:t>
            </a:r>
            <a:r>
              <a:rPr spc="-105" dirty="0"/>
              <a:t> </a:t>
            </a:r>
            <a:r>
              <a:rPr dirty="0"/>
              <a:t>&amp;</a:t>
            </a:r>
            <a:r>
              <a:rPr spc="-140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System</a:t>
            </a:r>
            <a:r>
              <a:rPr spc="-40" dirty="0"/>
              <a:t> </a:t>
            </a:r>
            <a:r>
              <a:rPr spc="-10" dirty="0"/>
              <a:t>Architecture</a:t>
            </a:r>
          </a:p>
          <a:p>
            <a:pPr marL="12700" marR="317500">
              <a:lnSpc>
                <a:spcPct val="137100"/>
              </a:lnSpc>
              <a:spcBef>
                <a:spcPts val="1785"/>
              </a:spcBef>
            </a:pPr>
            <a:r>
              <a:rPr sz="1750" b="0" spc="85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750" b="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85" dirty="0">
                <a:solidFill>
                  <a:srgbClr val="C2C4B5"/>
                </a:solidFill>
                <a:latin typeface="Cambria"/>
                <a:cs typeface="Cambria"/>
              </a:rPr>
              <a:t>employs</a:t>
            </a:r>
            <a:r>
              <a:rPr sz="1750" b="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10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50" b="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100" dirty="0">
                <a:solidFill>
                  <a:srgbClr val="C2C4B5"/>
                </a:solidFill>
                <a:latin typeface="Cambria"/>
                <a:cs typeface="Cambria"/>
              </a:rPr>
              <a:t>three-</a:t>
            </a: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tier</a:t>
            </a:r>
            <a:r>
              <a:rPr sz="1750" b="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0" dirty="0">
                <a:solidFill>
                  <a:srgbClr val="C2C4B5"/>
                </a:solidFill>
                <a:latin typeface="Cambria"/>
                <a:cs typeface="Cambria"/>
              </a:rPr>
              <a:t>architecture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b="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modularity </a:t>
            </a:r>
            <a:r>
              <a:rPr sz="1750" b="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b="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maintainability:</a:t>
            </a:r>
            <a:endParaRPr sz="1750">
              <a:latin typeface="Cambria"/>
              <a:cs typeface="Cambria"/>
            </a:endParaRPr>
          </a:p>
          <a:p>
            <a:pPr marL="356870" marR="273685" indent="-344805">
              <a:lnSpc>
                <a:spcPct val="137100"/>
              </a:lnSpc>
              <a:spcBef>
                <a:spcPts val="1565"/>
              </a:spcBef>
              <a:buFont typeface="Cambria"/>
              <a:buChar char="•"/>
              <a:tabLst>
                <a:tab pos="356870" algn="l"/>
              </a:tabLst>
            </a:pP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Presentation</a:t>
            </a:r>
            <a:r>
              <a:rPr sz="17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Layer</a:t>
            </a:r>
            <a:r>
              <a:rPr sz="17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-35" dirty="0">
                <a:solidFill>
                  <a:srgbClr val="C2C4B5"/>
                </a:solidFill>
                <a:latin typeface="Cambria"/>
                <a:cs typeface="Cambria"/>
              </a:rPr>
              <a:t>(Frontend):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HTML,</a:t>
            </a:r>
            <a:r>
              <a:rPr sz="1750" b="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140" dirty="0">
                <a:solidFill>
                  <a:srgbClr val="C2C4B5"/>
                </a:solidFill>
                <a:latin typeface="Cambria"/>
                <a:cs typeface="Cambria"/>
              </a:rPr>
              <a:t>CSS,</a:t>
            </a:r>
            <a:r>
              <a:rPr sz="1750" b="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JavaScript, React.js</a:t>
            </a:r>
            <a:r>
              <a:rPr sz="1750" b="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b="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UI.</a:t>
            </a:r>
            <a:endParaRPr sz="175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65"/>
              </a:spcBef>
              <a:buFont typeface="Cambria"/>
              <a:buChar char="•"/>
              <a:tabLst>
                <a:tab pos="356870" algn="l"/>
              </a:tabLst>
            </a:pP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Application</a:t>
            </a:r>
            <a:r>
              <a:rPr sz="17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Layer</a:t>
            </a:r>
            <a:r>
              <a:rPr sz="17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-40" dirty="0">
                <a:solidFill>
                  <a:srgbClr val="C2C4B5"/>
                </a:solidFill>
                <a:latin typeface="Cambria"/>
                <a:cs typeface="Cambria"/>
              </a:rPr>
              <a:t>(Backend):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95" dirty="0">
                <a:solidFill>
                  <a:srgbClr val="C2C4B5"/>
                </a:solidFill>
                <a:latin typeface="Cambria"/>
                <a:cs typeface="Cambria"/>
              </a:rPr>
              <a:t>Spring</a:t>
            </a:r>
            <a:r>
              <a:rPr sz="1750" b="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Boot</a:t>
            </a:r>
            <a:r>
              <a:rPr sz="1750" b="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0" dirty="0">
                <a:solidFill>
                  <a:srgbClr val="C2C4B5"/>
                </a:solidFill>
                <a:latin typeface="Cambria"/>
                <a:cs typeface="Cambria"/>
              </a:rPr>
              <a:t>business</a:t>
            </a:r>
            <a:endParaRPr sz="175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780"/>
              </a:spcBef>
            </a:pP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logic</a:t>
            </a:r>
            <a:r>
              <a:rPr sz="1750" b="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b="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APIs.</a:t>
            </a:r>
            <a:endParaRPr sz="175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60"/>
              </a:spcBef>
              <a:buFont typeface="Cambria"/>
              <a:buChar char="•"/>
              <a:tabLst>
                <a:tab pos="356870" algn="l"/>
              </a:tabLst>
            </a:pP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Layer</a:t>
            </a:r>
            <a:r>
              <a:rPr sz="17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(MySQL</a:t>
            </a:r>
            <a:r>
              <a:rPr sz="17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-20" dirty="0">
                <a:solidFill>
                  <a:srgbClr val="C2C4B5"/>
                </a:solidFill>
                <a:latin typeface="Cambria"/>
                <a:cs typeface="Cambria"/>
              </a:rPr>
              <a:t>Database):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85" dirty="0">
                <a:solidFill>
                  <a:srgbClr val="C2C4B5"/>
                </a:solidFill>
                <a:latin typeface="Cambria"/>
                <a:cs typeface="Cambria"/>
              </a:rPr>
              <a:t>Stores</a:t>
            </a:r>
            <a:r>
              <a:rPr sz="1750" b="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user,</a:t>
            </a:r>
            <a:r>
              <a:rPr sz="1750" b="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appointment,</a:t>
            </a:r>
            <a:endParaRPr sz="175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780"/>
              </a:spcBef>
            </a:pPr>
            <a:r>
              <a:rPr sz="1750" b="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b="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policy</a:t>
            </a:r>
            <a:r>
              <a:rPr sz="1750" b="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45" dirty="0">
                <a:solidFill>
                  <a:srgbClr val="C2C4B5"/>
                </a:solidFill>
                <a:latin typeface="Cambria"/>
                <a:cs typeface="Cambria"/>
              </a:rPr>
              <a:t>data.</a:t>
            </a:r>
            <a:endParaRPr sz="1750">
              <a:latin typeface="Cambria"/>
              <a:cs typeface="Cambria"/>
            </a:endParaRPr>
          </a:p>
          <a:p>
            <a:pPr marL="12700" marR="847725">
              <a:lnSpc>
                <a:spcPct val="137200"/>
              </a:lnSpc>
              <a:spcBef>
                <a:spcPts val="1565"/>
              </a:spcBef>
            </a:pP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750" b="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separation</a:t>
            </a:r>
            <a:r>
              <a:rPr sz="1750" b="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90" dirty="0">
                <a:solidFill>
                  <a:srgbClr val="C2C4B5"/>
                </a:solidFill>
                <a:latin typeface="Cambria"/>
                <a:cs typeface="Cambria"/>
              </a:rPr>
              <a:t>ensures</a:t>
            </a:r>
            <a:r>
              <a:rPr sz="1750" b="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80" dirty="0">
                <a:solidFill>
                  <a:srgbClr val="C2C4B5"/>
                </a:solidFill>
                <a:latin typeface="Cambria"/>
                <a:cs typeface="Cambria"/>
              </a:rPr>
              <a:t>independent</a:t>
            </a:r>
            <a:r>
              <a:rPr sz="1750" b="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0" dirty="0">
                <a:solidFill>
                  <a:srgbClr val="C2C4B5"/>
                </a:solidFill>
                <a:latin typeface="Cambria"/>
                <a:cs typeface="Cambria"/>
              </a:rPr>
              <a:t>development,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scalability,</a:t>
            </a:r>
            <a:r>
              <a:rPr sz="1750" b="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b="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maintainability.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7588377" y="2193798"/>
            <a:ext cx="5430519" cy="41324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System</a:t>
            </a:r>
            <a:r>
              <a:rPr spc="-40" dirty="0"/>
              <a:t> </a:t>
            </a:r>
            <a:r>
              <a:rPr spc="-10" dirty="0"/>
              <a:t>Workflow</a:t>
            </a:r>
          </a:p>
          <a:p>
            <a:pPr marL="12700">
              <a:lnSpc>
                <a:spcPct val="100000"/>
              </a:lnSpc>
              <a:spcBef>
                <a:spcPts val="2565"/>
              </a:spcBef>
            </a:pP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50" b="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95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50" b="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operates</a:t>
            </a:r>
            <a:r>
              <a:rPr sz="1750" b="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80" dirty="0">
                <a:solidFill>
                  <a:srgbClr val="C2C4B5"/>
                </a:solidFill>
                <a:latin typeface="Cambria"/>
                <a:cs typeface="Cambria"/>
              </a:rPr>
              <a:t>through</a:t>
            </a:r>
            <a:r>
              <a:rPr sz="1750" b="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10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50" b="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80" dirty="0">
                <a:solidFill>
                  <a:srgbClr val="C2C4B5"/>
                </a:solidFill>
                <a:latin typeface="Cambria"/>
                <a:cs typeface="Cambria"/>
              </a:rPr>
              <a:t>streamlined</a:t>
            </a:r>
            <a:r>
              <a:rPr sz="1750" b="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process:</a:t>
            </a:r>
            <a:endParaRPr sz="17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75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buAutoNum type="arabicPeriod"/>
              <a:tabLst>
                <a:tab pos="356870" algn="l"/>
              </a:tabLst>
            </a:pPr>
            <a:r>
              <a:rPr sz="1750" b="0" spc="100" dirty="0">
                <a:solidFill>
                  <a:srgbClr val="C2C4B5"/>
                </a:solidFill>
                <a:latin typeface="Cambria"/>
                <a:cs typeface="Cambria"/>
              </a:rPr>
              <a:t>User</a:t>
            </a:r>
            <a:r>
              <a:rPr sz="1750" b="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95" dirty="0">
                <a:solidFill>
                  <a:srgbClr val="C2C4B5"/>
                </a:solidFill>
                <a:latin typeface="Cambria"/>
                <a:cs typeface="Cambria"/>
              </a:rPr>
              <a:t>accesses</a:t>
            </a:r>
            <a:r>
              <a:rPr sz="1750" b="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web</a:t>
            </a:r>
            <a:r>
              <a:rPr sz="1750" b="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0" dirty="0">
                <a:solidFill>
                  <a:srgbClr val="C2C4B5"/>
                </a:solidFill>
                <a:latin typeface="Cambria"/>
                <a:cs typeface="Cambria"/>
              </a:rPr>
              <a:t>application</a:t>
            </a:r>
            <a:r>
              <a:rPr sz="1750" b="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via</a:t>
            </a:r>
            <a:r>
              <a:rPr sz="1750" b="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40" dirty="0">
                <a:solidFill>
                  <a:srgbClr val="C2C4B5"/>
                </a:solidFill>
                <a:latin typeface="Cambria"/>
                <a:cs typeface="Cambria"/>
              </a:rPr>
              <a:t>browser.</a:t>
            </a:r>
            <a:endParaRPr sz="175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356870" algn="l"/>
              </a:tabLst>
            </a:pPr>
            <a:r>
              <a:rPr sz="1750" b="0" spc="70" dirty="0">
                <a:solidFill>
                  <a:srgbClr val="C2C4B5"/>
                </a:solidFill>
                <a:latin typeface="Cambria"/>
                <a:cs typeface="Cambria"/>
              </a:rPr>
              <a:t>Frontend</a:t>
            </a:r>
            <a:r>
              <a:rPr sz="1750" b="0" spc="1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dirty="0">
                <a:solidFill>
                  <a:srgbClr val="C2C4B5"/>
                </a:solidFill>
                <a:latin typeface="Cambria"/>
                <a:cs typeface="Cambria"/>
              </a:rPr>
              <a:t>(React.js)</a:t>
            </a:r>
            <a:r>
              <a:rPr sz="1750" b="0" spc="9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captures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input</a:t>
            </a:r>
            <a:r>
              <a:rPr sz="1750" b="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dirty="0">
                <a:solidFill>
                  <a:srgbClr val="C2C4B5"/>
                </a:solidFill>
                <a:latin typeface="Cambria"/>
                <a:cs typeface="Cambria"/>
              </a:rPr>
              <a:t>(e.g.,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login,</a:t>
            </a:r>
            <a:endParaRPr sz="175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780"/>
              </a:spcBef>
            </a:pPr>
            <a:r>
              <a:rPr sz="1750" b="0" spc="50" dirty="0">
                <a:solidFill>
                  <a:srgbClr val="C2C4B5"/>
                </a:solidFill>
                <a:latin typeface="Cambria"/>
                <a:cs typeface="Cambria"/>
              </a:rPr>
              <a:t>scheduling).</a:t>
            </a:r>
            <a:endParaRPr sz="1750" dirty="0">
              <a:latin typeface="Cambria"/>
              <a:cs typeface="Cambria"/>
            </a:endParaRPr>
          </a:p>
          <a:p>
            <a:pPr marL="356870" marR="23495" indent="-344805">
              <a:lnSpc>
                <a:spcPct val="137300"/>
              </a:lnSpc>
              <a:spcBef>
                <a:spcPts val="575"/>
              </a:spcBef>
              <a:buAutoNum type="arabicPeriod" startAt="3"/>
              <a:tabLst>
                <a:tab pos="356870" algn="l"/>
              </a:tabLst>
            </a:pPr>
            <a:r>
              <a:rPr sz="1750" b="0" spc="85" dirty="0">
                <a:solidFill>
                  <a:srgbClr val="C2C4B5"/>
                </a:solidFill>
                <a:latin typeface="Cambria"/>
                <a:cs typeface="Cambria"/>
              </a:rPr>
              <a:t>Backend</a:t>
            </a:r>
            <a:r>
              <a:rPr sz="1750" b="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80" dirty="0">
                <a:solidFill>
                  <a:srgbClr val="C2C4B5"/>
                </a:solidFill>
                <a:latin typeface="Cambria"/>
                <a:cs typeface="Cambria"/>
              </a:rPr>
              <a:t>API</a:t>
            </a:r>
            <a:r>
              <a:rPr sz="1750" b="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(Spring</a:t>
            </a:r>
            <a:r>
              <a:rPr sz="1750" b="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dirty="0">
                <a:solidFill>
                  <a:srgbClr val="C2C4B5"/>
                </a:solidFill>
                <a:latin typeface="Cambria"/>
                <a:cs typeface="Cambria"/>
              </a:rPr>
              <a:t>Boot)</a:t>
            </a:r>
            <a:r>
              <a:rPr sz="1750" b="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0" dirty="0">
                <a:solidFill>
                  <a:srgbClr val="C2C4B5"/>
                </a:solidFill>
                <a:latin typeface="Cambria"/>
                <a:cs typeface="Cambria"/>
              </a:rPr>
              <a:t>validates,</a:t>
            </a:r>
            <a:r>
              <a:rPr sz="1750" b="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retrieves,</a:t>
            </a:r>
            <a:r>
              <a:rPr sz="1750" b="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30" dirty="0">
                <a:solidFill>
                  <a:srgbClr val="C2C4B5"/>
                </a:solidFill>
                <a:latin typeface="Cambria"/>
                <a:cs typeface="Cambria"/>
              </a:rPr>
              <a:t>or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updates</a:t>
            </a:r>
            <a:r>
              <a:rPr sz="1750" b="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105" dirty="0">
                <a:solidFill>
                  <a:srgbClr val="C2C4B5"/>
                </a:solidFill>
                <a:latin typeface="Cambria"/>
                <a:cs typeface="Cambria"/>
              </a:rPr>
              <a:t>MySQL</a:t>
            </a:r>
            <a:r>
              <a:rPr sz="1750" b="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45" dirty="0">
                <a:solidFill>
                  <a:srgbClr val="C2C4B5"/>
                </a:solidFill>
                <a:latin typeface="Cambria"/>
                <a:cs typeface="Cambria"/>
              </a:rPr>
              <a:t>data.</a:t>
            </a:r>
            <a:endParaRPr sz="175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60"/>
              </a:spcBef>
              <a:buAutoNum type="arabicPeriod" startAt="3"/>
              <a:tabLst>
                <a:tab pos="356870" algn="l"/>
              </a:tabLst>
            </a:pPr>
            <a:r>
              <a:rPr sz="1750" b="0" spc="70" dirty="0">
                <a:solidFill>
                  <a:srgbClr val="C2C4B5"/>
                </a:solidFill>
                <a:latin typeface="Cambria"/>
                <a:cs typeface="Cambria"/>
              </a:rPr>
              <a:t>Results</a:t>
            </a:r>
            <a:r>
              <a:rPr sz="1750" b="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65" dirty="0">
                <a:solidFill>
                  <a:srgbClr val="C2C4B5"/>
                </a:solidFill>
                <a:latin typeface="Cambria"/>
                <a:cs typeface="Cambria"/>
              </a:rPr>
              <a:t>displayed</a:t>
            </a:r>
            <a:r>
              <a:rPr sz="1750" b="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dynamically</a:t>
            </a:r>
            <a:r>
              <a:rPr sz="1750" b="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100" dirty="0">
                <a:solidFill>
                  <a:srgbClr val="C2C4B5"/>
                </a:solidFill>
                <a:latin typeface="Cambria"/>
                <a:cs typeface="Cambria"/>
              </a:rPr>
              <a:t>on</a:t>
            </a:r>
            <a:r>
              <a:rPr sz="1750" b="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frontend.</a:t>
            </a:r>
            <a:endParaRPr sz="175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AutoNum type="arabicPeriod" startAt="3"/>
              <a:tabLst>
                <a:tab pos="356870" algn="l"/>
              </a:tabLst>
            </a:pP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Notification</a:t>
            </a:r>
            <a:r>
              <a:rPr sz="1750" b="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90" dirty="0">
                <a:solidFill>
                  <a:srgbClr val="C2C4B5"/>
                </a:solidFill>
                <a:latin typeface="Cambria"/>
                <a:cs typeface="Cambria"/>
              </a:rPr>
              <a:t>systems</a:t>
            </a:r>
            <a:r>
              <a:rPr sz="1750" b="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75" dirty="0">
                <a:solidFill>
                  <a:srgbClr val="C2C4B5"/>
                </a:solidFill>
                <a:latin typeface="Cambria"/>
                <a:cs typeface="Cambria"/>
              </a:rPr>
              <a:t>update</a:t>
            </a:r>
            <a:r>
              <a:rPr sz="1750" b="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0" spc="55" dirty="0">
                <a:solidFill>
                  <a:srgbClr val="C2C4B5"/>
                </a:solidFill>
                <a:latin typeface="Cambria"/>
                <a:cs typeface="Cambria"/>
              </a:rPr>
              <a:t>dashboards.</a:t>
            </a:r>
            <a:endParaRPr sz="17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9730" y="1151966"/>
            <a:ext cx="7255509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System</a:t>
            </a:r>
            <a:r>
              <a:rPr spc="-70" dirty="0"/>
              <a:t> </a:t>
            </a:r>
            <a:r>
              <a:rPr dirty="0"/>
              <a:t>Testing</a:t>
            </a:r>
            <a:r>
              <a:rPr spc="-9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2437638"/>
            <a:ext cx="232156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dirty="0">
                <a:solidFill>
                  <a:srgbClr val="E0E4CD"/>
                </a:solidFill>
                <a:latin typeface="Nirmala UI"/>
                <a:cs typeface="Nirmala UI"/>
              </a:rPr>
              <a:t>Testing</a:t>
            </a:r>
            <a:r>
              <a:rPr sz="2650" b="1" spc="-75" dirty="0">
                <a:solidFill>
                  <a:srgbClr val="E0E4CD"/>
                </a:solidFill>
                <a:latin typeface="Nirmala UI"/>
                <a:cs typeface="Nirmala UI"/>
              </a:rPr>
              <a:t> </a:t>
            </a:r>
            <a:r>
              <a:rPr sz="2650" b="1" spc="-10" dirty="0">
                <a:solidFill>
                  <a:srgbClr val="E0E4CD"/>
                </a:solidFill>
                <a:latin typeface="Nirmala UI"/>
                <a:cs typeface="Nirmala UI"/>
              </a:rPr>
              <a:t>Stages</a:t>
            </a:r>
            <a:endParaRPr sz="2650">
              <a:latin typeface="Nirmala UI"/>
              <a:cs typeface="Nirmala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3067794"/>
            <a:ext cx="5985510" cy="317309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356870" algn="l"/>
              </a:tabLst>
            </a:pPr>
            <a:r>
              <a:rPr sz="1750" b="1" dirty="0">
                <a:solidFill>
                  <a:srgbClr val="C2C4B5"/>
                </a:solidFill>
                <a:latin typeface="Cambria"/>
                <a:cs typeface="Cambria"/>
              </a:rPr>
              <a:t>Unit</a:t>
            </a:r>
            <a:r>
              <a:rPr sz="1750" b="1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C2C4B5"/>
                </a:solidFill>
                <a:latin typeface="Cambria"/>
                <a:cs typeface="Cambria"/>
              </a:rPr>
              <a:t>Testing: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Each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module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(login,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scheduling,</a:t>
            </a: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query)</a:t>
            </a:r>
            <a:endParaRPr sz="175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780"/>
              </a:spcBef>
            </a:pP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tested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correctness.</a:t>
            </a:r>
            <a:endParaRPr sz="175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60"/>
              </a:spcBef>
              <a:buFont typeface="Cambria"/>
              <a:buChar char="•"/>
              <a:tabLst>
                <a:tab pos="356870" algn="l"/>
              </a:tabLst>
            </a:pPr>
            <a:r>
              <a:rPr sz="1750" b="1" dirty="0">
                <a:solidFill>
                  <a:srgbClr val="C2C4B5"/>
                </a:solidFill>
                <a:latin typeface="Cambria"/>
                <a:cs typeface="Cambria"/>
              </a:rPr>
              <a:t>Integration</a:t>
            </a:r>
            <a:r>
              <a:rPr sz="1750" b="1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C2C4B5"/>
                </a:solidFill>
                <a:latin typeface="Cambria"/>
                <a:cs typeface="Cambria"/>
              </a:rPr>
              <a:t>Testing:</a:t>
            </a:r>
            <a:r>
              <a:rPr sz="1750" b="1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Verified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connectivity</a:t>
            </a:r>
            <a:r>
              <a:rPr sz="1750" spc="114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between</a:t>
            </a:r>
            <a:endParaRPr sz="175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785"/>
              </a:spcBef>
            </a:pP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frontend,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backend,</a:t>
            </a:r>
            <a:r>
              <a:rPr sz="17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database.</a:t>
            </a:r>
            <a:endParaRPr sz="1750">
              <a:latin typeface="Cambria"/>
              <a:cs typeface="Cambria"/>
            </a:endParaRPr>
          </a:p>
          <a:p>
            <a:pPr marL="356870" marR="315595" indent="-344805">
              <a:lnSpc>
                <a:spcPct val="137100"/>
              </a:lnSpc>
              <a:spcBef>
                <a:spcPts val="580"/>
              </a:spcBef>
              <a:buFont typeface="Cambria"/>
              <a:buChar char="•"/>
              <a:tabLst>
                <a:tab pos="356870" algn="l"/>
              </a:tabLst>
            </a:pPr>
            <a:r>
              <a:rPr sz="1750" b="1" spc="10" dirty="0">
                <a:solidFill>
                  <a:srgbClr val="C2C4B5"/>
                </a:solidFill>
                <a:latin typeface="Cambria"/>
                <a:cs typeface="Cambria"/>
              </a:rPr>
              <a:t>Performance</a:t>
            </a:r>
            <a:r>
              <a:rPr sz="1750" b="1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1" dirty="0">
                <a:solidFill>
                  <a:srgbClr val="C2C4B5"/>
                </a:solidFill>
                <a:latin typeface="Cambria"/>
                <a:cs typeface="Cambria"/>
              </a:rPr>
              <a:t>Testing:</a:t>
            </a:r>
            <a:r>
              <a:rPr sz="1750" b="1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Ensured</a:t>
            </a:r>
            <a:r>
              <a:rPr sz="17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handling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multiple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simultaneous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user</a:t>
            </a:r>
            <a:r>
              <a:rPr sz="17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requests.</a:t>
            </a:r>
            <a:endParaRPr sz="1750">
              <a:latin typeface="Cambria"/>
              <a:cs typeface="Cambria"/>
            </a:endParaRPr>
          </a:p>
          <a:p>
            <a:pPr marL="356870" marR="5080" indent="-344805">
              <a:lnSpc>
                <a:spcPct val="137300"/>
              </a:lnSpc>
              <a:spcBef>
                <a:spcPts val="575"/>
              </a:spcBef>
              <a:buFont typeface="Cambria"/>
              <a:buChar char="•"/>
              <a:tabLst>
                <a:tab pos="356870" algn="l"/>
              </a:tabLst>
            </a:pPr>
            <a:r>
              <a:rPr sz="1750" b="1" dirty="0">
                <a:solidFill>
                  <a:srgbClr val="C2C4B5"/>
                </a:solidFill>
                <a:latin typeface="Cambria"/>
                <a:cs typeface="Cambria"/>
              </a:rPr>
              <a:t>Usability</a:t>
            </a:r>
            <a:r>
              <a:rPr sz="1750" b="1" spc="-9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b="1" spc="-10" dirty="0">
                <a:solidFill>
                  <a:srgbClr val="C2C4B5"/>
                </a:solidFill>
                <a:latin typeface="Cambria"/>
                <a:cs typeface="Cambria"/>
              </a:rPr>
              <a:t>Testing:</a:t>
            </a:r>
            <a:r>
              <a:rPr sz="1750" b="1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Evaluated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interface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design,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contrast,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responsiveness.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8377" y="2437638"/>
            <a:ext cx="3500754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dirty="0">
                <a:solidFill>
                  <a:srgbClr val="E0E4CD"/>
                </a:solidFill>
                <a:latin typeface="Nirmala UI"/>
                <a:cs typeface="Nirmala UI"/>
              </a:rPr>
              <a:t>Test</a:t>
            </a:r>
            <a:r>
              <a:rPr sz="2650" b="1" spc="-40" dirty="0">
                <a:solidFill>
                  <a:srgbClr val="E0E4CD"/>
                </a:solidFill>
                <a:latin typeface="Nirmala UI"/>
                <a:cs typeface="Nirmala UI"/>
              </a:rPr>
              <a:t> </a:t>
            </a:r>
            <a:r>
              <a:rPr sz="2650" b="1" dirty="0">
                <a:solidFill>
                  <a:srgbClr val="E0E4CD"/>
                </a:solidFill>
                <a:latin typeface="Nirmala UI"/>
                <a:cs typeface="Nirmala UI"/>
              </a:rPr>
              <a:t>Results</a:t>
            </a:r>
            <a:r>
              <a:rPr sz="2650" b="1" spc="-75" dirty="0">
                <a:solidFill>
                  <a:srgbClr val="E0E4CD"/>
                </a:solidFill>
                <a:latin typeface="Nirmala UI"/>
                <a:cs typeface="Nirmala UI"/>
              </a:rPr>
              <a:t> </a:t>
            </a:r>
            <a:r>
              <a:rPr sz="2650" b="1" spc="-10" dirty="0">
                <a:solidFill>
                  <a:srgbClr val="E0E4CD"/>
                </a:solidFill>
                <a:latin typeface="Nirmala UI"/>
                <a:cs typeface="Nirmala UI"/>
              </a:rPr>
              <a:t>Summary</a:t>
            </a:r>
            <a:endParaRPr sz="2650">
              <a:latin typeface="Nirmala UI"/>
              <a:cs typeface="Nirmala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8377" y="3166110"/>
            <a:ext cx="6109335" cy="28725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Login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registration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C2C4B5"/>
                </a:solidFill>
                <a:latin typeface="Cambria"/>
                <a:cs typeface="Cambria"/>
              </a:rPr>
              <a:t>processes</a:t>
            </a:r>
            <a:r>
              <a:rPr sz="17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validated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securely.</a:t>
            </a:r>
            <a:endParaRPr sz="175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Char char="•"/>
              <a:tabLst>
                <a:tab pos="356870" algn="l"/>
              </a:tabLst>
            </a:pP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Appointment</a:t>
            </a:r>
            <a:r>
              <a:rPr sz="17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policy</a:t>
            </a:r>
            <a:r>
              <a:rPr sz="17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retrieved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correctly</a:t>
            </a:r>
            <a:r>
              <a:rPr sz="17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from</a:t>
            </a:r>
            <a:endParaRPr sz="175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780"/>
              </a:spcBef>
            </a:pP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MySQL.</a:t>
            </a:r>
            <a:endParaRPr sz="175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360"/>
              </a:spcBef>
              <a:buChar char="•"/>
              <a:tabLst>
                <a:tab pos="356870" algn="l"/>
              </a:tabLst>
            </a:pP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Frontend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maintained</a:t>
            </a:r>
            <a:r>
              <a:rPr sz="17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100" dirty="0">
                <a:solidFill>
                  <a:srgbClr val="C2C4B5"/>
                </a:solidFill>
                <a:latin typeface="Cambria"/>
                <a:cs typeface="Cambria"/>
              </a:rPr>
              <a:t>smooth</a:t>
            </a:r>
            <a:r>
              <a:rPr sz="17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performance</a:t>
            </a:r>
            <a:r>
              <a:rPr sz="17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3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endParaRPr sz="1750" dirty="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780"/>
              </a:spcBef>
            </a:pPr>
            <a:r>
              <a:rPr sz="1750" spc="105" dirty="0">
                <a:solidFill>
                  <a:srgbClr val="C2C4B5"/>
                </a:solidFill>
                <a:latin typeface="Cambria"/>
                <a:cs typeface="Cambria"/>
              </a:rPr>
              <a:t>minimal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loading</a:t>
            </a:r>
            <a:r>
              <a:rPr sz="17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0" dirty="0">
                <a:solidFill>
                  <a:srgbClr val="C2C4B5"/>
                </a:solidFill>
                <a:latin typeface="Cambria"/>
                <a:cs typeface="Cambria"/>
              </a:rPr>
              <a:t>time.</a:t>
            </a:r>
            <a:endParaRPr sz="17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7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Testing</a:t>
            </a:r>
            <a:r>
              <a:rPr sz="17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C2C4B5"/>
                </a:solidFill>
                <a:latin typeface="Cambria"/>
                <a:cs typeface="Cambria"/>
              </a:rPr>
              <a:t>confirmed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80" dirty="0">
                <a:solidFill>
                  <a:srgbClr val="C2C4B5"/>
                </a:solidFill>
                <a:latin typeface="Cambria"/>
                <a:cs typeface="Cambria"/>
              </a:rPr>
              <a:t>system's</a:t>
            </a:r>
            <a:r>
              <a:rPr sz="17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robustness,</a:t>
            </a:r>
            <a:r>
              <a:rPr sz="17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20" dirty="0">
                <a:solidFill>
                  <a:srgbClr val="C2C4B5"/>
                </a:solidFill>
                <a:latin typeface="Cambria"/>
                <a:cs typeface="Cambria"/>
              </a:rPr>
              <a:t>reliability,</a:t>
            </a:r>
            <a:r>
              <a:rPr sz="17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6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endParaRPr sz="17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spc="95" dirty="0">
                <a:solidFill>
                  <a:srgbClr val="C2C4B5"/>
                </a:solidFill>
                <a:latin typeface="Cambria"/>
                <a:cs typeface="Cambria"/>
              </a:rPr>
              <a:t>achievement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7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75" dirty="0">
                <a:solidFill>
                  <a:srgbClr val="C2C4B5"/>
                </a:solidFill>
                <a:latin typeface="Cambria"/>
                <a:cs typeface="Cambria"/>
              </a:rPr>
              <a:t>intended</a:t>
            </a:r>
            <a:r>
              <a:rPr sz="17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50" spc="55" dirty="0">
                <a:solidFill>
                  <a:srgbClr val="C2C4B5"/>
                </a:solidFill>
                <a:latin typeface="Cambria"/>
                <a:cs typeface="Cambria"/>
              </a:rPr>
              <a:t>goals.</a:t>
            </a:r>
            <a:endParaRPr sz="17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0160" y="488136"/>
            <a:ext cx="291084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dirty="0"/>
              <a:t>Future</a:t>
            </a:r>
            <a:r>
              <a:rPr sz="3700" spc="-125" dirty="0"/>
              <a:t> </a:t>
            </a:r>
            <a:r>
              <a:rPr sz="3700" spc="-10" dirty="0"/>
              <a:t>Scope</a:t>
            </a:r>
            <a:endParaRPr sz="3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463" y="2011679"/>
            <a:ext cx="950976" cy="44653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28952"/>
            <a:ext cx="8093075" cy="53129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4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C2C4B5"/>
                </a:solidFill>
                <a:latin typeface="Cambria"/>
                <a:cs typeface="Cambria"/>
              </a:rPr>
              <a:t>InsurAI</a:t>
            </a:r>
            <a:r>
              <a:rPr sz="14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4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has</a:t>
            </a:r>
            <a:r>
              <a:rPr sz="14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60" dirty="0">
                <a:solidFill>
                  <a:srgbClr val="C2C4B5"/>
                </a:solidFill>
                <a:latin typeface="Cambria"/>
                <a:cs typeface="Cambria"/>
              </a:rPr>
              <a:t>significant</a:t>
            </a:r>
            <a:r>
              <a:rPr sz="14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potential</a:t>
            </a:r>
            <a:r>
              <a:rPr sz="14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C2C4B5"/>
                </a:solidFill>
                <a:latin typeface="Cambria"/>
                <a:cs typeface="Cambria"/>
              </a:rPr>
              <a:t>future</a:t>
            </a:r>
            <a:r>
              <a:rPr sz="14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80" dirty="0">
                <a:solidFill>
                  <a:srgbClr val="C2C4B5"/>
                </a:solidFill>
                <a:latin typeface="Cambria"/>
                <a:cs typeface="Cambria"/>
              </a:rPr>
              <a:t>enhancements</a:t>
            </a:r>
            <a:r>
              <a:rPr sz="14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4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broader</a:t>
            </a:r>
            <a:r>
              <a:rPr sz="14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35" dirty="0">
                <a:solidFill>
                  <a:srgbClr val="C2C4B5"/>
                </a:solidFill>
                <a:latin typeface="Cambria"/>
                <a:cs typeface="Cambria"/>
              </a:rPr>
              <a:t>application.</a:t>
            </a: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450" dirty="0">
              <a:latin typeface="Cambria"/>
              <a:cs typeface="Cambria"/>
            </a:endParaRPr>
          </a:p>
          <a:p>
            <a:pPr marL="1151890">
              <a:lnSpc>
                <a:spcPct val="100000"/>
              </a:lnSpc>
              <a:spcBef>
                <a:spcPts val="5"/>
              </a:spcBef>
            </a:pPr>
            <a:r>
              <a:rPr sz="1850" b="1" spc="-10" dirty="0">
                <a:solidFill>
                  <a:srgbClr val="C2C4B5"/>
                </a:solidFill>
                <a:latin typeface="Nirmala UI"/>
                <a:cs typeface="Nirmala UI"/>
              </a:rPr>
              <a:t>Scalability</a:t>
            </a:r>
            <a:endParaRPr sz="1850" dirty="0">
              <a:latin typeface="Nirmala UI"/>
              <a:cs typeface="Nirmala UI"/>
            </a:endParaRPr>
          </a:p>
          <a:p>
            <a:pPr marL="1151890">
              <a:lnSpc>
                <a:spcPct val="100000"/>
              </a:lnSpc>
              <a:spcBef>
                <a:spcPts val="1480"/>
              </a:spcBef>
            </a:pP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Adaptable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 for</a:t>
            </a:r>
            <a:r>
              <a:rPr sz="14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larger</a:t>
            </a:r>
            <a:r>
              <a:rPr sz="14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insurance</a:t>
            </a:r>
            <a:r>
              <a:rPr sz="14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organizations</a:t>
            </a:r>
            <a:r>
              <a:rPr sz="14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4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0" dirty="0">
                <a:solidFill>
                  <a:srgbClr val="C2C4B5"/>
                </a:solidFill>
                <a:latin typeface="Cambria"/>
                <a:cs typeface="Cambria"/>
              </a:rPr>
              <a:t>diverse</a:t>
            </a:r>
            <a:r>
              <a:rPr sz="14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policy</a:t>
            </a:r>
            <a:r>
              <a:rPr sz="1450" spc="8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-10" dirty="0">
                <a:solidFill>
                  <a:srgbClr val="C2C4B5"/>
                </a:solidFill>
                <a:latin typeface="Cambria"/>
                <a:cs typeface="Cambria"/>
              </a:rPr>
              <a:t>types.</a:t>
            </a: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50" dirty="0">
              <a:latin typeface="Cambria"/>
              <a:cs typeface="Cambria"/>
            </a:endParaRPr>
          </a:p>
          <a:p>
            <a:pPr marL="1151890">
              <a:lnSpc>
                <a:spcPct val="100000"/>
              </a:lnSpc>
            </a:pPr>
            <a:r>
              <a:rPr sz="1850" b="1" dirty="0">
                <a:solidFill>
                  <a:srgbClr val="C2C4B5"/>
                </a:solidFill>
                <a:latin typeface="Nirmala UI"/>
                <a:cs typeface="Nirmala UI"/>
              </a:rPr>
              <a:t>Learning</a:t>
            </a:r>
            <a:r>
              <a:rPr sz="1850" b="1" spc="-45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1850" b="1" spc="-10" dirty="0">
                <a:solidFill>
                  <a:srgbClr val="C2C4B5"/>
                </a:solidFill>
                <a:latin typeface="Nirmala UI"/>
                <a:cs typeface="Nirmala UI"/>
              </a:rPr>
              <a:t>Platform</a:t>
            </a:r>
            <a:endParaRPr sz="1850" dirty="0">
              <a:latin typeface="Nirmala UI"/>
              <a:cs typeface="Nirmala UI"/>
            </a:endParaRPr>
          </a:p>
          <a:p>
            <a:pPr marL="1151890">
              <a:lnSpc>
                <a:spcPct val="100000"/>
              </a:lnSpc>
              <a:spcBef>
                <a:spcPts val="1485"/>
              </a:spcBef>
            </a:pP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Serves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65" dirty="0">
                <a:solidFill>
                  <a:srgbClr val="C2C4B5"/>
                </a:solidFill>
                <a:latin typeface="Cambria"/>
                <a:cs typeface="Cambria"/>
              </a:rPr>
              <a:t>as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4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practical</a:t>
            </a:r>
            <a:r>
              <a:rPr sz="14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60" dirty="0">
                <a:solidFill>
                  <a:srgbClr val="C2C4B5"/>
                </a:solidFill>
                <a:latin typeface="Cambria"/>
                <a:cs typeface="Cambria"/>
              </a:rPr>
              <a:t>learning</a:t>
            </a:r>
            <a:r>
              <a:rPr sz="14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tool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full-</a:t>
            </a:r>
            <a:r>
              <a:rPr sz="1450" spc="65" dirty="0">
                <a:solidFill>
                  <a:srgbClr val="C2C4B5"/>
                </a:solidFill>
                <a:latin typeface="Cambria"/>
                <a:cs typeface="Cambria"/>
              </a:rPr>
              <a:t>stack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web</a:t>
            </a:r>
            <a:r>
              <a:rPr sz="14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development.</a:t>
            </a: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50" dirty="0">
              <a:latin typeface="Cambria"/>
              <a:cs typeface="Cambria"/>
            </a:endParaRPr>
          </a:p>
          <a:p>
            <a:pPr marL="1151890">
              <a:lnSpc>
                <a:spcPct val="100000"/>
              </a:lnSpc>
            </a:pPr>
            <a:r>
              <a:rPr sz="1850" b="1" dirty="0">
                <a:solidFill>
                  <a:srgbClr val="C2C4B5"/>
                </a:solidFill>
                <a:latin typeface="Nirmala UI"/>
                <a:cs typeface="Nirmala UI"/>
              </a:rPr>
              <a:t>Advanced</a:t>
            </a:r>
            <a:r>
              <a:rPr sz="1850" b="1" spc="-80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1850" b="1" spc="-10" dirty="0">
                <a:solidFill>
                  <a:srgbClr val="C2C4B5"/>
                </a:solidFill>
                <a:latin typeface="Nirmala UI"/>
                <a:cs typeface="Nirmala UI"/>
              </a:rPr>
              <a:t>Analytics</a:t>
            </a:r>
            <a:endParaRPr sz="1850" dirty="0">
              <a:latin typeface="Nirmala UI"/>
              <a:cs typeface="Nirmala UI"/>
            </a:endParaRPr>
          </a:p>
          <a:p>
            <a:pPr marL="1151890">
              <a:lnSpc>
                <a:spcPct val="100000"/>
              </a:lnSpc>
              <a:spcBef>
                <a:spcPts val="1485"/>
              </a:spcBef>
            </a:pP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Integration</a:t>
            </a:r>
            <a:r>
              <a:rPr sz="14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4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more</a:t>
            </a:r>
            <a:r>
              <a:rPr sz="14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0" dirty="0">
                <a:solidFill>
                  <a:srgbClr val="C2C4B5"/>
                </a:solidFill>
                <a:latin typeface="Cambria"/>
                <a:cs typeface="Cambria"/>
              </a:rPr>
              <a:t>sophisticated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4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analytics</a:t>
            </a:r>
            <a:r>
              <a:rPr sz="14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deeper</a:t>
            </a:r>
            <a:r>
              <a:rPr sz="14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insights.</a:t>
            </a: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450" dirty="0">
              <a:latin typeface="Cambria"/>
              <a:cs typeface="Cambria"/>
            </a:endParaRPr>
          </a:p>
          <a:p>
            <a:pPr marL="1151890">
              <a:lnSpc>
                <a:spcPct val="100000"/>
              </a:lnSpc>
              <a:spcBef>
                <a:spcPts val="5"/>
              </a:spcBef>
            </a:pPr>
            <a:r>
              <a:rPr sz="1850" b="1" dirty="0">
                <a:solidFill>
                  <a:srgbClr val="C2C4B5"/>
                </a:solidFill>
                <a:latin typeface="Nirmala UI"/>
                <a:cs typeface="Nirmala UI"/>
              </a:rPr>
              <a:t>Mobile</a:t>
            </a:r>
            <a:r>
              <a:rPr sz="1850" b="1" spc="-45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1850" b="1" dirty="0">
                <a:solidFill>
                  <a:srgbClr val="C2C4B5"/>
                </a:solidFill>
                <a:latin typeface="Nirmala UI"/>
                <a:cs typeface="Nirmala UI"/>
              </a:rPr>
              <a:t>App</a:t>
            </a:r>
            <a:r>
              <a:rPr sz="1850" b="1" spc="-50" dirty="0">
                <a:solidFill>
                  <a:srgbClr val="C2C4B5"/>
                </a:solidFill>
                <a:latin typeface="Nirmala UI"/>
                <a:cs typeface="Nirmala UI"/>
              </a:rPr>
              <a:t> </a:t>
            </a:r>
            <a:r>
              <a:rPr sz="1850" b="1" spc="-10" dirty="0">
                <a:solidFill>
                  <a:srgbClr val="C2C4B5"/>
                </a:solidFill>
                <a:latin typeface="Nirmala UI"/>
                <a:cs typeface="Nirmala UI"/>
              </a:rPr>
              <a:t>Extension</a:t>
            </a:r>
            <a:endParaRPr sz="1850" dirty="0">
              <a:latin typeface="Nirmala UI"/>
              <a:cs typeface="Nirmala UI"/>
            </a:endParaRPr>
          </a:p>
          <a:p>
            <a:pPr marL="1151890">
              <a:lnSpc>
                <a:spcPct val="100000"/>
              </a:lnSpc>
              <a:spcBef>
                <a:spcPts val="1485"/>
              </a:spcBef>
            </a:pPr>
            <a:r>
              <a:rPr sz="1450" spc="60" dirty="0">
                <a:solidFill>
                  <a:srgbClr val="C2C4B5"/>
                </a:solidFill>
                <a:latin typeface="Cambria"/>
                <a:cs typeface="Cambria"/>
              </a:rPr>
              <a:t>Development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4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dedicated</a:t>
            </a:r>
            <a:r>
              <a:rPr sz="14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5" dirty="0">
                <a:solidFill>
                  <a:srgbClr val="C2C4B5"/>
                </a:solidFill>
                <a:latin typeface="Cambria"/>
                <a:cs typeface="Cambria"/>
              </a:rPr>
              <a:t>mobile</a:t>
            </a:r>
            <a:r>
              <a:rPr sz="14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50" dirty="0">
                <a:solidFill>
                  <a:srgbClr val="C2C4B5"/>
                </a:solidFill>
                <a:latin typeface="Cambria"/>
                <a:cs typeface="Cambria"/>
              </a:rPr>
              <a:t>applications</a:t>
            </a:r>
            <a:r>
              <a:rPr sz="14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75" dirty="0">
                <a:solidFill>
                  <a:srgbClr val="C2C4B5"/>
                </a:solidFill>
                <a:latin typeface="Cambria"/>
                <a:cs typeface="Cambria"/>
              </a:rPr>
              <a:t>enhanced</a:t>
            </a:r>
            <a:r>
              <a:rPr sz="14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50" spc="35" dirty="0">
                <a:solidFill>
                  <a:srgbClr val="C2C4B5"/>
                </a:solidFill>
                <a:latin typeface="Cambria"/>
                <a:cs typeface="Cambria"/>
              </a:rPr>
              <a:t>accessibility.</a:t>
            </a: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9239" y="1475054"/>
            <a:ext cx="2929890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pc="60" dirty="0"/>
              <a:t>The</a:t>
            </a:r>
            <a:r>
              <a:rPr spc="15" dirty="0"/>
              <a:t> </a:t>
            </a:r>
            <a:r>
              <a:rPr spc="85" dirty="0"/>
              <a:t>InsurAI</a:t>
            </a:r>
            <a:r>
              <a:rPr spc="5" dirty="0"/>
              <a:t> </a:t>
            </a:r>
            <a:r>
              <a:rPr spc="70" dirty="0"/>
              <a:t>Corporate</a:t>
            </a:r>
            <a:r>
              <a:rPr spc="20" dirty="0"/>
              <a:t> </a:t>
            </a:r>
            <a:r>
              <a:rPr spc="50" dirty="0"/>
              <a:t>Policy</a:t>
            </a:r>
            <a:r>
              <a:rPr dirty="0"/>
              <a:t> </a:t>
            </a:r>
            <a:r>
              <a:rPr spc="95" dirty="0"/>
              <a:t>Automation</a:t>
            </a:r>
            <a:r>
              <a:rPr spc="45" dirty="0"/>
              <a:t> </a:t>
            </a:r>
            <a:r>
              <a:rPr spc="90" dirty="0"/>
              <a:t>and</a:t>
            </a:r>
            <a:r>
              <a:rPr spc="5" dirty="0"/>
              <a:t> </a:t>
            </a:r>
            <a:r>
              <a:rPr spc="80" dirty="0"/>
              <a:t>Intelligence</a:t>
            </a:r>
            <a:r>
              <a:rPr spc="50" dirty="0"/>
              <a:t> </a:t>
            </a:r>
            <a:r>
              <a:rPr spc="110" dirty="0"/>
              <a:t>System</a:t>
            </a:r>
            <a:r>
              <a:rPr dirty="0"/>
              <a:t> </a:t>
            </a:r>
            <a:r>
              <a:rPr spc="75" dirty="0"/>
              <a:t>successfully</a:t>
            </a:r>
            <a:r>
              <a:rPr spc="55" dirty="0"/>
              <a:t> </a:t>
            </a:r>
            <a:r>
              <a:rPr spc="80" dirty="0"/>
              <a:t>achieved</a:t>
            </a:r>
            <a:r>
              <a:rPr spc="40" dirty="0"/>
              <a:t> </a:t>
            </a:r>
            <a:r>
              <a:rPr spc="10" dirty="0"/>
              <a:t>its</a:t>
            </a:r>
            <a:r>
              <a:rPr spc="25" dirty="0"/>
              <a:t> </a:t>
            </a:r>
            <a:r>
              <a:rPr spc="10" dirty="0"/>
              <a:t>objective:</a:t>
            </a:r>
            <a:r>
              <a:rPr spc="65" dirty="0"/>
              <a:t> </a:t>
            </a:r>
            <a:r>
              <a:rPr spc="85" dirty="0"/>
              <a:t>streamlining</a:t>
            </a:r>
            <a:r>
              <a:rPr spc="20" dirty="0"/>
              <a:t> </a:t>
            </a:r>
            <a:r>
              <a:rPr spc="80" dirty="0"/>
              <a:t>insurance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pc="70" dirty="0"/>
              <a:t>operations</a:t>
            </a:r>
            <a:r>
              <a:rPr spc="-5" dirty="0"/>
              <a:t> </a:t>
            </a:r>
            <a:r>
              <a:rPr spc="85" dirty="0"/>
              <a:t>through</a:t>
            </a:r>
            <a:r>
              <a:rPr spc="45" dirty="0"/>
              <a:t> </a:t>
            </a:r>
            <a:r>
              <a:rPr spc="100" dirty="0"/>
              <a:t>a</a:t>
            </a:r>
            <a:r>
              <a:rPr spc="-25" dirty="0"/>
              <a:t> </a:t>
            </a:r>
            <a:r>
              <a:rPr spc="90" dirty="0"/>
              <a:t>web-</a:t>
            </a:r>
            <a:r>
              <a:rPr spc="75" dirty="0"/>
              <a:t>based</a:t>
            </a:r>
            <a:r>
              <a:rPr spc="15" dirty="0"/>
              <a:t> </a:t>
            </a:r>
            <a:r>
              <a:rPr spc="85" dirty="0"/>
              <a:t>automation</a:t>
            </a:r>
            <a:r>
              <a:rPr spc="45" dirty="0"/>
              <a:t> </a:t>
            </a:r>
            <a:r>
              <a:rPr spc="60" dirty="0"/>
              <a:t>platform.</a:t>
            </a: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pc="6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65" dirty="0"/>
              <a:t>The</a:t>
            </a:r>
            <a:r>
              <a:rPr spc="-20" dirty="0"/>
              <a:t> </a:t>
            </a:r>
            <a:r>
              <a:rPr spc="65" dirty="0"/>
              <a:t>project</a:t>
            </a:r>
            <a:r>
              <a:rPr spc="-30" dirty="0"/>
              <a:t> </a:t>
            </a:r>
            <a:r>
              <a:rPr spc="60" dirty="0"/>
              <a:t>effectively</a:t>
            </a:r>
            <a:r>
              <a:rPr spc="45" dirty="0"/>
              <a:t> </a:t>
            </a:r>
            <a:r>
              <a:rPr spc="95" dirty="0"/>
              <a:t>combined</a:t>
            </a:r>
            <a:r>
              <a:rPr dirty="0"/>
              <a:t> </a:t>
            </a:r>
            <a:r>
              <a:rPr spc="70" dirty="0"/>
              <a:t>HTML,</a:t>
            </a:r>
            <a:r>
              <a:rPr spc="-45" dirty="0"/>
              <a:t> </a:t>
            </a:r>
            <a:r>
              <a:rPr spc="135" dirty="0"/>
              <a:t>CSS,</a:t>
            </a:r>
            <a:r>
              <a:rPr spc="-45" dirty="0"/>
              <a:t> </a:t>
            </a:r>
            <a:r>
              <a:rPr spc="70" dirty="0"/>
              <a:t>JavaScript,</a:t>
            </a:r>
            <a:r>
              <a:rPr spc="10" dirty="0"/>
              <a:t> </a:t>
            </a:r>
            <a:r>
              <a:rPr spc="95" dirty="0"/>
              <a:t>and</a:t>
            </a:r>
            <a:r>
              <a:rPr spc="-30" dirty="0"/>
              <a:t> </a:t>
            </a:r>
            <a:r>
              <a:rPr spc="60" dirty="0"/>
              <a:t>React.js</a:t>
            </a:r>
            <a:r>
              <a:rPr spc="15" dirty="0"/>
              <a:t> </a:t>
            </a:r>
            <a:r>
              <a:rPr spc="65" dirty="0"/>
              <a:t>for</a:t>
            </a:r>
            <a:r>
              <a:rPr spc="-5" dirty="0"/>
              <a:t> </a:t>
            </a:r>
            <a:r>
              <a:rPr spc="100" dirty="0"/>
              <a:t>a</a:t>
            </a:r>
            <a:r>
              <a:rPr spc="-15" dirty="0"/>
              <a:t> </a:t>
            </a:r>
            <a:r>
              <a:rPr spc="100" dirty="0"/>
              <a:t>smooth</a:t>
            </a:r>
            <a:r>
              <a:rPr spc="-25" dirty="0"/>
              <a:t> </a:t>
            </a:r>
            <a:r>
              <a:rPr spc="70" dirty="0"/>
              <a:t>frontend,</a:t>
            </a:r>
            <a:r>
              <a:rPr spc="30" dirty="0"/>
              <a:t> </a:t>
            </a:r>
            <a:r>
              <a:rPr spc="50" dirty="0"/>
              <a:t>with</a:t>
            </a:r>
            <a:r>
              <a:rPr spc="5" dirty="0"/>
              <a:t> </a:t>
            </a:r>
            <a:r>
              <a:rPr spc="95" dirty="0"/>
              <a:t>Spring</a:t>
            </a:r>
            <a:r>
              <a:rPr spc="-40" dirty="0"/>
              <a:t> </a:t>
            </a:r>
            <a:r>
              <a:rPr spc="60" dirty="0"/>
              <a:t>Boot</a:t>
            </a:r>
            <a:r>
              <a:rPr spc="-35" dirty="0"/>
              <a:t> </a:t>
            </a:r>
            <a:r>
              <a:rPr spc="95" dirty="0"/>
              <a:t>and</a:t>
            </a:r>
            <a:r>
              <a:rPr spc="-25" dirty="0"/>
              <a:t> </a:t>
            </a:r>
            <a:r>
              <a:rPr spc="100" dirty="0"/>
              <a:t>MySQL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pc="114" dirty="0"/>
              <a:t>managing</a:t>
            </a:r>
            <a:r>
              <a:rPr spc="-40" dirty="0"/>
              <a:t> </a:t>
            </a:r>
            <a:r>
              <a:rPr spc="65" dirty="0"/>
              <a:t>robust</a:t>
            </a:r>
            <a:r>
              <a:rPr spc="-5" dirty="0"/>
              <a:t> </a:t>
            </a:r>
            <a:r>
              <a:rPr spc="85" dirty="0"/>
              <a:t>backend</a:t>
            </a:r>
            <a:r>
              <a:rPr spc="25" dirty="0"/>
              <a:t> </a:t>
            </a:r>
            <a:r>
              <a:rPr spc="85" dirty="0"/>
              <a:t>processing</a:t>
            </a:r>
            <a:r>
              <a:rPr spc="-40" dirty="0"/>
              <a:t> </a:t>
            </a:r>
            <a:r>
              <a:rPr spc="90" dirty="0"/>
              <a:t>and</a:t>
            </a:r>
            <a:r>
              <a:rPr spc="-30" dirty="0"/>
              <a:t> </a:t>
            </a:r>
            <a:r>
              <a:rPr spc="45" dirty="0"/>
              <a:t>data.</a:t>
            </a: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pc="45" dirty="0"/>
          </a:p>
          <a:p>
            <a:pPr marL="12700">
              <a:lnSpc>
                <a:spcPct val="100000"/>
              </a:lnSpc>
            </a:pPr>
            <a:r>
              <a:rPr spc="50" dirty="0"/>
              <a:t>This</a:t>
            </a:r>
            <a:r>
              <a:rPr spc="-25" dirty="0"/>
              <a:t> </a:t>
            </a:r>
            <a:r>
              <a:rPr spc="75" dirty="0"/>
              <a:t>endeavor</a:t>
            </a:r>
            <a:r>
              <a:rPr spc="50" dirty="0"/>
              <a:t> </a:t>
            </a:r>
            <a:r>
              <a:rPr spc="55" dirty="0"/>
              <a:t>provided</a:t>
            </a:r>
            <a:r>
              <a:rPr spc="-5" dirty="0"/>
              <a:t> </a:t>
            </a:r>
            <a:r>
              <a:rPr spc="65" dirty="0"/>
              <a:t>valuable</a:t>
            </a:r>
            <a:r>
              <a:rPr spc="25" dirty="0"/>
              <a:t> </a:t>
            </a:r>
            <a:r>
              <a:rPr spc="100" dirty="0"/>
              <a:t>real-</a:t>
            </a:r>
            <a:r>
              <a:rPr dirty="0"/>
              <a:t>world</a:t>
            </a:r>
            <a:r>
              <a:rPr spc="20" dirty="0"/>
              <a:t> </a:t>
            </a:r>
            <a:r>
              <a:rPr spc="85" dirty="0"/>
              <a:t>experience</a:t>
            </a:r>
            <a:r>
              <a:rPr spc="30" dirty="0"/>
              <a:t> </a:t>
            </a:r>
            <a:r>
              <a:rPr spc="80" dirty="0"/>
              <a:t>in</a:t>
            </a:r>
            <a:r>
              <a:rPr spc="-5" dirty="0"/>
              <a:t> </a:t>
            </a:r>
            <a:r>
              <a:rPr spc="90" dirty="0"/>
              <a:t>full-</a:t>
            </a:r>
            <a:r>
              <a:rPr spc="80" dirty="0"/>
              <a:t>stack</a:t>
            </a:r>
            <a:r>
              <a:rPr spc="15" dirty="0"/>
              <a:t> </a:t>
            </a:r>
            <a:r>
              <a:rPr spc="55" dirty="0"/>
              <a:t>web</a:t>
            </a:r>
            <a:r>
              <a:rPr spc="-5" dirty="0"/>
              <a:t> </a:t>
            </a:r>
            <a:r>
              <a:rPr spc="80" dirty="0"/>
              <a:t>development,</a:t>
            </a:r>
            <a:r>
              <a:rPr spc="25" dirty="0"/>
              <a:t> </a:t>
            </a:r>
            <a:r>
              <a:rPr spc="75" dirty="0"/>
              <a:t>covering</a:t>
            </a:r>
            <a:r>
              <a:rPr spc="25" dirty="0"/>
              <a:t> </a:t>
            </a:r>
            <a:r>
              <a:rPr spc="110" dirty="0"/>
              <a:t>UI</a:t>
            </a:r>
            <a:r>
              <a:rPr spc="-15" dirty="0"/>
              <a:t> </a:t>
            </a:r>
            <a:r>
              <a:rPr spc="80" dirty="0"/>
              <a:t>design,</a:t>
            </a:r>
            <a:r>
              <a:rPr dirty="0"/>
              <a:t> </a:t>
            </a:r>
            <a:r>
              <a:rPr spc="65" dirty="0"/>
              <a:t>server</a:t>
            </a:r>
            <a:r>
              <a:rPr spc="20" dirty="0"/>
              <a:t> </a:t>
            </a:r>
            <a:r>
              <a:rPr spc="55" dirty="0"/>
              <a:t>logic,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pc="75" dirty="0"/>
              <a:t>database</a:t>
            </a:r>
            <a:r>
              <a:rPr dirty="0"/>
              <a:t> </a:t>
            </a:r>
            <a:r>
              <a:rPr spc="114" dirty="0"/>
              <a:t>management,</a:t>
            </a:r>
            <a:r>
              <a:rPr spc="5" dirty="0"/>
              <a:t> </a:t>
            </a:r>
            <a:r>
              <a:rPr spc="85" dirty="0"/>
              <a:t>debugging,</a:t>
            </a:r>
            <a:r>
              <a:rPr spc="-40" dirty="0"/>
              <a:t> </a:t>
            </a:r>
            <a:r>
              <a:rPr spc="70" dirty="0"/>
              <a:t>testing,</a:t>
            </a:r>
            <a:r>
              <a:rPr spc="5" dirty="0"/>
              <a:t> </a:t>
            </a:r>
            <a:r>
              <a:rPr spc="95" dirty="0"/>
              <a:t>and</a:t>
            </a:r>
            <a:r>
              <a:rPr spc="-30" dirty="0"/>
              <a:t> </a:t>
            </a:r>
            <a:r>
              <a:rPr spc="65" dirty="0"/>
              <a:t>deployment.</a:t>
            </a:r>
          </a:p>
          <a:p>
            <a:pPr marL="12700" marR="114300">
              <a:lnSpc>
                <a:spcPct val="137800"/>
              </a:lnSpc>
              <a:spcBef>
                <a:spcPts val="1950"/>
              </a:spcBef>
            </a:pPr>
            <a:r>
              <a:rPr spc="85" dirty="0"/>
              <a:t>InsurAI</a:t>
            </a:r>
            <a:r>
              <a:rPr spc="-25" dirty="0"/>
              <a:t> </a:t>
            </a:r>
            <a:r>
              <a:rPr spc="75" dirty="0"/>
              <a:t>represents</a:t>
            </a:r>
            <a:r>
              <a:rPr spc="-15" dirty="0"/>
              <a:t> </a:t>
            </a:r>
            <a:r>
              <a:rPr spc="100" dirty="0"/>
              <a:t>a</a:t>
            </a:r>
            <a:r>
              <a:rPr spc="-10" dirty="0"/>
              <a:t> </a:t>
            </a:r>
            <a:r>
              <a:rPr spc="80" dirty="0"/>
              <a:t>significant</a:t>
            </a:r>
            <a:r>
              <a:rPr dirty="0"/>
              <a:t> </a:t>
            </a:r>
            <a:r>
              <a:rPr spc="65" dirty="0"/>
              <a:t>contribution</a:t>
            </a:r>
            <a:r>
              <a:rPr spc="60" dirty="0"/>
              <a:t> </a:t>
            </a:r>
            <a:r>
              <a:rPr spc="55" dirty="0"/>
              <a:t>to</a:t>
            </a:r>
            <a:r>
              <a:rPr spc="-10" dirty="0"/>
              <a:t> </a:t>
            </a:r>
            <a:r>
              <a:rPr spc="55" dirty="0"/>
              <a:t>digital</a:t>
            </a:r>
            <a:r>
              <a:rPr spc="-10" dirty="0"/>
              <a:t> </a:t>
            </a:r>
            <a:r>
              <a:rPr spc="80" dirty="0"/>
              <a:t>transformation</a:t>
            </a:r>
            <a:r>
              <a:rPr spc="60" dirty="0"/>
              <a:t> </a:t>
            </a:r>
            <a:r>
              <a:rPr spc="80" dirty="0"/>
              <a:t>in</a:t>
            </a:r>
            <a:r>
              <a:rPr spc="-10" dirty="0"/>
              <a:t> </a:t>
            </a:r>
            <a:r>
              <a:rPr spc="80" dirty="0"/>
              <a:t>the</a:t>
            </a:r>
            <a:r>
              <a:rPr spc="-15" dirty="0"/>
              <a:t> </a:t>
            </a:r>
            <a:r>
              <a:rPr spc="90" dirty="0"/>
              <a:t>insurance</a:t>
            </a:r>
            <a:r>
              <a:rPr spc="40" dirty="0"/>
              <a:t> </a:t>
            </a:r>
            <a:r>
              <a:rPr spc="60" dirty="0"/>
              <a:t>industry,</a:t>
            </a:r>
            <a:r>
              <a:rPr spc="-10" dirty="0"/>
              <a:t> </a:t>
            </a:r>
            <a:r>
              <a:rPr spc="105" dirty="0"/>
              <a:t>enhancing</a:t>
            </a:r>
            <a:r>
              <a:rPr spc="40" dirty="0"/>
              <a:t> </a:t>
            </a:r>
            <a:r>
              <a:rPr spc="90" dirty="0"/>
              <a:t>communication and</a:t>
            </a:r>
            <a:r>
              <a:rPr spc="-20" dirty="0"/>
              <a:t> </a:t>
            </a:r>
            <a:r>
              <a:rPr spc="95" dirty="0"/>
              <a:t>customer</a:t>
            </a:r>
            <a:r>
              <a:rPr spc="40" dirty="0"/>
              <a:t> </a:t>
            </a:r>
            <a:r>
              <a:rPr spc="65" dirty="0"/>
              <a:t>satisfaction.</a:t>
            </a:r>
            <a:r>
              <a:rPr spc="3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spc="95" dirty="0"/>
              <a:t>has</a:t>
            </a:r>
            <a:r>
              <a:rPr spc="-5" dirty="0"/>
              <a:t> </a:t>
            </a:r>
            <a:r>
              <a:rPr spc="75" dirty="0"/>
              <a:t>also</a:t>
            </a:r>
            <a:r>
              <a:rPr spc="-25" dirty="0"/>
              <a:t> </a:t>
            </a:r>
            <a:r>
              <a:rPr spc="85" dirty="0"/>
              <a:t>strengthened</a:t>
            </a:r>
            <a:r>
              <a:rPr spc="35" dirty="0"/>
              <a:t> </a:t>
            </a:r>
            <a:r>
              <a:rPr spc="125" dirty="0"/>
              <a:t>my</a:t>
            </a:r>
            <a:r>
              <a:rPr spc="-25" dirty="0"/>
              <a:t> </a:t>
            </a:r>
            <a:r>
              <a:rPr spc="50" dirty="0"/>
              <a:t>abilities</a:t>
            </a:r>
            <a:r>
              <a:rPr dirty="0"/>
              <a:t> </a:t>
            </a:r>
            <a:r>
              <a:rPr spc="95" dirty="0"/>
              <a:t>as</a:t>
            </a:r>
            <a:r>
              <a:rPr spc="-5" dirty="0"/>
              <a:t> </a:t>
            </a:r>
            <a:r>
              <a:rPr spc="100" dirty="0"/>
              <a:t>a</a:t>
            </a:r>
            <a:r>
              <a:rPr spc="-25" dirty="0"/>
              <a:t> </a:t>
            </a:r>
            <a:r>
              <a:rPr spc="55" dirty="0"/>
              <a:t>web</a:t>
            </a:r>
            <a:r>
              <a:rPr spc="15" dirty="0"/>
              <a:t> </a:t>
            </a:r>
            <a:r>
              <a:rPr spc="60" dirty="0"/>
              <a:t>developer,</a:t>
            </a:r>
            <a:r>
              <a:rPr spc="-15" dirty="0"/>
              <a:t> </a:t>
            </a:r>
            <a:r>
              <a:rPr spc="75" dirty="0"/>
              <a:t>preparing</a:t>
            </a:r>
            <a:r>
              <a:rPr spc="-30" dirty="0"/>
              <a:t> </a:t>
            </a:r>
            <a:r>
              <a:rPr spc="160" dirty="0"/>
              <a:t>me</a:t>
            </a:r>
            <a:r>
              <a:rPr spc="-25" dirty="0"/>
              <a:t> </a:t>
            </a:r>
            <a:r>
              <a:rPr spc="60" dirty="0"/>
              <a:t>for</a:t>
            </a:r>
            <a:r>
              <a:rPr spc="15" dirty="0"/>
              <a:t> </a:t>
            </a:r>
            <a:r>
              <a:rPr spc="70" dirty="0"/>
              <a:t>future</a:t>
            </a:r>
            <a:r>
              <a:rPr spc="45" dirty="0"/>
              <a:t> </a:t>
            </a:r>
            <a:r>
              <a:rPr spc="60" dirty="0"/>
              <a:t>application </a:t>
            </a:r>
            <a:r>
              <a:rPr spc="85" dirty="0"/>
              <a:t>development</a:t>
            </a:r>
            <a:r>
              <a:rPr spc="-15" dirty="0"/>
              <a:t> </a:t>
            </a:r>
            <a:r>
              <a:rPr spc="70" dirty="0"/>
              <a:t>challenges.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4959" y="3309949"/>
            <a:ext cx="284289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Thank</a:t>
            </a:r>
            <a:r>
              <a:rPr spc="-135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876</Words>
  <Application>Microsoft Office PowerPoint</Application>
  <PresentationFormat>Custom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Nirmala UI</vt:lpstr>
      <vt:lpstr>Office Theme</vt:lpstr>
      <vt:lpstr>InsurAI Corporate Policy Automation and Intelligence System</vt:lpstr>
      <vt:lpstr>Abstract</vt:lpstr>
      <vt:lpstr>Introduction to InsurAI</vt:lpstr>
      <vt:lpstr>Technology Stack</vt:lpstr>
      <vt:lpstr>Functional Modules</vt:lpstr>
      <vt:lpstr>System Architecture &amp; Workflow</vt:lpstr>
      <vt:lpstr>System Testing and Results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Murali Taran</cp:lastModifiedBy>
  <cp:revision>3</cp:revision>
  <dcterms:created xsi:type="dcterms:W3CDTF">2025-11-25T17:29:06Z</dcterms:created>
  <dcterms:modified xsi:type="dcterms:W3CDTF">2025-12-15T16:44:22Z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2025-11-25T00:00:00Z</vt:filetime>
  </property>
  <property fmtid="{D5CDD505-2E9C-101B-9397-08002B2CF9AE}" pid="5" name="Producer">
    <vt:lpwstr>www.ilovepdf.com</vt:lpwstr>
  </property>
</Properties>
</file>